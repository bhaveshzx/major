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1430000" cy="6858000"/>
  <p:notesSz cx="11430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037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2125980"/>
            <a:ext cx="97155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FF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840480"/>
            <a:ext cx="80010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F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F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577340"/>
            <a:ext cx="497205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577340"/>
            <a:ext cx="497205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F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6691" y="104597"/>
            <a:ext cx="8941561" cy="110990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FF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29894" y="1852929"/>
            <a:ext cx="10570210" cy="4141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6377940"/>
            <a:ext cx="365760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6377940"/>
            <a:ext cx="262890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6377940"/>
            <a:ext cx="262890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386715" cy="476884"/>
          </a:xfrm>
          <a:custGeom>
            <a:avLst/>
            <a:gdLst/>
            <a:ahLst/>
            <a:cxnLst/>
            <a:rect l="l" t="t" r="r" b="b"/>
            <a:pathLst>
              <a:path w="386715" h="476884">
                <a:moveTo>
                  <a:pt x="386410" y="0"/>
                </a:moveTo>
                <a:lnTo>
                  <a:pt x="0" y="0"/>
                </a:lnTo>
                <a:lnTo>
                  <a:pt x="0" y="476669"/>
                </a:lnTo>
                <a:lnTo>
                  <a:pt x="386410" y="476669"/>
                </a:lnTo>
                <a:lnTo>
                  <a:pt x="386410" y="0"/>
                </a:lnTo>
                <a:close/>
              </a:path>
            </a:pathLst>
          </a:custGeom>
          <a:solidFill>
            <a:srgbClr val="E16C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24585" y="4510992"/>
            <a:ext cx="2684145" cy="139700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295"/>
              </a:spcBef>
              <a:buClr>
                <a:srgbClr val="C00000"/>
              </a:buClr>
              <a:buFont typeface="Tahoma"/>
              <a:buAutoNum type="arabicPeriod"/>
              <a:tabLst>
                <a:tab pos="469265" algn="l"/>
              </a:tabLst>
            </a:pPr>
            <a:r>
              <a:rPr sz="2000" b="1" spc="-70" dirty="0">
                <a:solidFill>
                  <a:srgbClr val="C00000"/>
                </a:solidFill>
                <a:latin typeface="Tahoma"/>
                <a:cs typeface="Tahoma"/>
              </a:rPr>
              <a:t>ANUBHAV</a:t>
            </a:r>
            <a:r>
              <a:rPr sz="2000" b="1" spc="-14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b="1" spc="-20" dirty="0">
                <a:solidFill>
                  <a:srgbClr val="C00000"/>
                </a:solidFill>
                <a:latin typeface="Tahoma"/>
                <a:cs typeface="Tahoma"/>
              </a:rPr>
              <a:t>KUMAR</a:t>
            </a:r>
            <a:endParaRPr sz="2000" dirty="0">
              <a:latin typeface="Tahoma"/>
              <a:cs typeface="Tahoma"/>
            </a:endParaRPr>
          </a:p>
          <a:p>
            <a:pPr marL="469265" indent="-456565" algn="just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469265" algn="l"/>
              </a:tabLst>
            </a:pPr>
            <a:r>
              <a:rPr sz="2000" b="1" spc="-100" dirty="0">
                <a:solidFill>
                  <a:srgbClr val="C00000"/>
                </a:solidFill>
                <a:latin typeface="Tahoma"/>
                <a:cs typeface="Tahoma"/>
              </a:rPr>
              <a:t>AMANJEET</a:t>
            </a:r>
            <a:r>
              <a:rPr sz="2000" b="1" spc="-7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b="1" spc="-20" dirty="0">
                <a:solidFill>
                  <a:srgbClr val="C00000"/>
                </a:solidFill>
                <a:latin typeface="Tahoma"/>
                <a:cs typeface="Tahoma"/>
              </a:rPr>
              <a:t>SINGH</a:t>
            </a:r>
            <a:endParaRPr sz="2000" dirty="0">
              <a:latin typeface="Tahoma"/>
              <a:cs typeface="Tahoma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469265" algn="l"/>
              </a:tabLst>
            </a:pPr>
            <a:r>
              <a:rPr sz="2000" b="1" spc="-110" dirty="0">
                <a:solidFill>
                  <a:srgbClr val="C00000"/>
                </a:solidFill>
                <a:latin typeface="Tahoma"/>
                <a:cs typeface="Tahoma"/>
              </a:rPr>
              <a:t>VICTOR</a:t>
            </a:r>
            <a:r>
              <a:rPr sz="2000" b="1" spc="-17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Tahoma"/>
                <a:cs typeface="Tahoma"/>
              </a:rPr>
              <a:t>TIRKEY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33927" y="4519396"/>
            <a:ext cx="126428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30" marR="5715" indent="-24765" algn="just">
              <a:lnSpc>
                <a:spcPct val="150000"/>
              </a:lnSpc>
              <a:spcBef>
                <a:spcPts val="100"/>
              </a:spcBef>
            </a:pPr>
            <a:r>
              <a:rPr sz="2000" b="1" spc="-95" dirty="0">
                <a:solidFill>
                  <a:srgbClr val="C00000"/>
                </a:solidFill>
                <a:latin typeface="Tahoma"/>
                <a:cs typeface="Tahoma"/>
              </a:rPr>
              <a:t>VTU23106 </a:t>
            </a:r>
            <a:r>
              <a:rPr sz="2000" b="1" spc="-120" dirty="0">
                <a:solidFill>
                  <a:srgbClr val="C00000"/>
                </a:solidFill>
                <a:latin typeface="Tahoma"/>
                <a:cs typeface="Tahoma"/>
              </a:rPr>
              <a:t>VTU22317 VTU23675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94218" y="4647442"/>
            <a:ext cx="2813685" cy="127254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R="58419" algn="ctr">
              <a:lnSpc>
                <a:spcPct val="100000"/>
              </a:lnSpc>
              <a:spcBef>
                <a:spcPts val="800"/>
              </a:spcBef>
            </a:pPr>
            <a:r>
              <a:rPr sz="2000" b="1" spc="-10" dirty="0">
                <a:solidFill>
                  <a:srgbClr val="C00000"/>
                </a:solidFill>
                <a:latin typeface="Tahoma"/>
                <a:cs typeface="Tahoma"/>
              </a:rPr>
              <a:t>Supervisor:</a:t>
            </a:r>
            <a:endParaRPr sz="2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710"/>
              </a:spcBef>
            </a:pPr>
            <a:r>
              <a:rPr sz="2000" b="1" spc="-70" dirty="0">
                <a:solidFill>
                  <a:srgbClr val="C00000"/>
                </a:solidFill>
                <a:latin typeface="Tahoma"/>
                <a:cs typeface="Tahoma"/>
              </a:rPr>
              <a:t>Dr.</a:t>
            </a:r>
            <a:r>
              <a:rPr sz="2000" b="1" spc="-29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ahoma"/>
                <a:cs typeface="Tahoma"/>
              </a:rPr>
              <a:t>G.</a:t>
            </a:r>
            <a:r>
              <a:rPr sz="2000" b="1" spc="-3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ahoma"/>
                <a:cs typeface="Tahoma"/>
              </a:rPr>
              <a:t>Aloy</a:t>
            </a:r>
            <a:r>
              <a:rPr sz="2000" b="1" spc="-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Tahoma"/>
                <a:cs typeface="Tahoma"/>
              </a:rPr>
              <a:t>Anuja</a:t>
            </a:r>
            <a:r>
              <a:rPr sz="2000" b="1" spc="-10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b="1" spc="-20" dirty="0">
                <a:solidFill>
                  <a:srgbClr val="C00000"/>
                </a:solidFill>
                <a:latin typeface="Tahoma"/>
                <a:cs typeface="Tahoma"/>
              </a:rPr>
              <a:t>Mary</a:t>
            </a:r>
            <a:endParaRPr sz="2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205"/>
              </a:spcBef>
            </a:pPr>
            <a:r>
              <a:rPr sz="2000" b="1" spc="-10" dirty="0">
                <a:solidFill>
                  <a:srgbClr val="C00000"/>
                </a:solidFill>
                <a:latin typeface="Tahoma"/>
                <a:cs typeface="Tahoma"/>
              </a:rPr>
              <a:t>Professor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3423" y="137032"/>
            <a:ext cx="1490980" cy="1490980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5129020" y="274701"/>
            <a:ext cx="1957579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45" dirty="0">
                <a:solidFill>
                  <a:srgbClr val="C00000"/>
                </a:solidFill>
              </a:rPr>
              <a:t>Final</a:t>
            </a:r>
            <a:r>
              <a:rPr sz="2000" spc="-365" dirty="0">
                <a:solidFill>
                  <a:srgbClr val="C00000"/>
                </a:solidFill>
              </a:rPr>
              <a:t> </a:t>
            </a:r>
            <a:r>
              <a:rPr lang="en-IN" sz="2000" spc="-365" dirty="0">
                <a:solidFill>
                  <a:srgbClr val="C00000"/>
                </a:solidFill>
              </a:rPr>
              <a:t>  </a:t>
            </a:r>
            <a:r>
              <a:rPr sz="2000" spc="-10" dirty="0">
                <a:solidFill>
                  <a:srgbClr val="C00000"/>
                </a:solidFill>
              </a:rPr>
              <a:t>Review</a:t>
            </a:r>
            <a:endParaRPr sz="2000" dirty="0"/>
          </a:p>
        </p:txBody>
      </p:sp>
      <p:sp>
        <p:nvSpPr>
          <p:cNvPr id="8" name="object 8"/>
          <p:cNvSpPr txBox="1"/>
          <p:nvPr/>
        </p:nvSpPr>
        <p:spPr>
          <a:xfrm>
            <a:off x="824585" y="516483"/>
            <a:ext cx="9443720" cy="4014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8725" marR="923925" indent="1303020">
              <a:lnSpc>
                <a:spcPct val="150000"/>
              </a:lnSpc>
              <a:spcBef>
                <a:spcPts val="100"/>
              </a:spcBef>
            </a:pPr>
            <a:r>
              <a:rPr sz="2000" b="1" spc="-25" dirty="0">
                <a:solidFill>
                  <a:srgbClr val="C00000"/>
                </a:solidFill>
                <a:latin typeface="Tahoma"/>
                <a:cs typeface="Tahoma"/>
              </a:rPr>
              <a:t>Major</a:t>
            </a:r>
            <a:r>
              <a:rPr sz="2000" b="1" spc="-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b="1" spc="-75" dirty="0">
                <a:solidFill>
                  <a:srgbClr val="C00000"/>
                </a:solidFill>
                <a:latin typeface="Tahoma"/>
                <a:cs typeface="Tahoma"/>
              </a:rPr>
              <a:t>Project</a:t>
            </a:r>
            <a:r>
              <a:rPr sz="2000" b="1" spc="-9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b="1" spc="-110" dirty="0">
                <a:solidFill>
                  <a:srgbClr val="C00000"/>
                </a:solidFill>
                <a:latin typeface="Tahoma"/>
                <a:cs typeface="Tahoma"/>
              </a:rPr>
              <a:t>winter</a:t>
            </a:r>
            <a:r>
              <a:rPr sz="2000" b="1" spc="-22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b="1" spc="-110" dirty="0">
                <a:solidFill>
                  <a:srgbClr val="C00000"/>
                </a:solidFill>
                <a:latin typeface="Tahoma"/>
                <a:cs typeface="Tahoma"/>
              </a:rPr>
              <a:t>Semester-</a:t>
            </a:r>
            <a:r>
              <a:rPr sz="2000" b="1" spc="-155" dirty="0">
                <a:solidFill>
                  <a:srgbClr val="C00000"/>
                </a:solidFill>
                <a:latin typeface="Tahoma"/>
                <a:cs typeface="Tahoma"/>
              </a:rPr>
              <a:t>2025-</a:t>
            </a:r>
            <a:r>
              <a:rPr sz="2000" b="1" spc="-25" dirty="0">
                <a:solidFill>
                  <a:srgbClr val="C00000"/>
                </a:solidFill>
                <a:latin typeface="Tahoma"/>
                <a:cs typeface="Tahoma"/>
              </a:rPr>
              <a:t>26 </a:t>
            </a:r>
            <a:r>
              <a:rPr sz="2000" b="1" spc="-70" dirty="0">
                <a:solidFill>
                  <a:srgbClr val="C00000"/>
                </a:solidFill>
                <a:latin typeface="Tahoma"/>
                <a:cs typeface="Tahoma"/>
              </a:rPr>
              <a:t>Department</a:t>
            </a:r>
            <a:r>
              <a:rPr sz="2000" b="1" spc="-14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ahoma"/>
                <a:cs typeface="Tahoma"/>
              </a:rPr>
              <a:t>of</a:t>
            </a:r>
            <a:r>
              <a:rPr sz="2000" b="1" spc="-2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b="1" spc="-70" dirty="0">
                <a:solidFill>
                  <a:srgbClr val="C00000"/>
                </a:solidFill>
                <a:latin typeface="Tahoma"/>
                <a:cs typeface="Tahoma"/>
              </a:rPr>
              <a:t>Electronics</a:t>
            </a:r>
            <a:r>
              <a:rPr sz="2000" b="1" spc="-204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ahoma"/>
                <a:cs typeface="Tahoma"/>
              </a:rPr>
              <a:t>and</a:t>
            </a:r>
            <a:r>
              <a:rPr sz="2000" b="1" spc="2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b="1" spc="-35" dirty="0">
                <a:solidFill>
                  <a:srgbClr val="C00000"/>
                </a:solidFill>
                <a:latin typeface="Tahoma"/>
                <a:cs typeface="Tahoma"/>
              </a:rPr>
              <a:t>Communication</a:t>
            </a:r>
            <a:r>
              <a:rPr sz="2000" b="1" spc="-9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Tahoma"/>
                <a:cs typeface="Tahoma"/>
              </a:rPr>
              <a:t>Engineering</a:t>
            </a:r>
            <a:endParaRPr sz="20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85"/>
              </a:spcBef>
            </a:pPr>
            <a:endParaRPr sz="2000" dirty="0">
              <a:latin typeface="Tahoma"/>
              <a:cs typeface="Tahoma"/>
            </a:endParaRPr>
          </a:p>
          <a:p>
            <a:pPr marL="1092835">
              <a:lnSpc>
                <a:spcPct val="100000"/>
              </a:lnSpc>
              <a:spcBef>
                <a:spcPts val="5"/>
              </a:spcBef>
            </a:pPr>
            <a:r>
              <a:rPr sz="2000" b="1" spc="-30" dirty="0">
                <a:solidFill>
                  <a:srgbClr val="C00000"/>
                </a:solidFill>
                <a:latin typeface="Tahoma"/>
                <a:cs typeface="Tahoma"/>
              </a:rPr>
              <a:t>Title:</a:t>
            </a:r>
            <a:r>
              <a:rPr sz="2000" b="1" spc="-1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b="1" spc="-125" dirty="0">
                <a:latin typeface="Tahoma"/>
                <a:cs typeface="Tahoma"/>
              </a:rPr>
              <a:t>AI-</a:t>
            </a:r>
            <a:r>
              <a:rPr sz="2000" b="1" dirty="0">
                <a:latin typeface="Tahoma"/>
                <a:cs typeface="Tahoma"/>
              </a:rPr>
              <a:t>Based</a:t>
            </a:r>
            <a:r>
              <a:rPr sz="2000" b="1" spc="50" dirty="0">
                <a:latin typeface="Tahoma"/>
                <a:cs typeface="Tahoma"/>
              </a:rPr>
              <a:t>  </a:t>
            </a:r>
            <a:r>
              <a:rPr sz="2000" b="1" spc="-65" dirty="0">
                <a:latin typeface="Tahoma"/>
                <a:cs typeface="Tahoma"/>
              </a:rPr>
              <a:t>Real-</a:t>
            </a:r>
            <a:r>
              <a:rPr sz="2000" b="1" dirty="0">
                <a:latin typeface="Tahoma"/>
                <a:cs typeface="Tahoma"/>
              </a:rPr>
              <a:t>Time</a:t>
            </a:r>
            <a:r>
              <a:rPr sz="2000" b="1" spc="240" dirty="0">
                <a:latin typeface="Tahoma"/>
                <a:cs typeface="Tahoma"/>
              </a:rPr>
              <a:t> </a:t>
            </a:r>
            <a:r>
              <a:rPr sz="2000" b="1" spc="-35" dirty="0">
                <a:latin typeface="Tahoma"/>
                <a:cs typeface="Tahoma"/>
              </a:rPr>
              <a:t>Environmental</a:t>
            </a:r>
            <a:r>
              <a:rPr sz="2000" b="1" spc="-220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Monitoring</a:t>
            </a:r>
            <a:r>
              <a:rPr sz="2000" b="1" spc="-5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System</a:t>
            </a:r>
            <a:r>
              <a:rPr sz="2000" b="1" spc="95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for</a:t>
            </a:r>
            <a:r>
              <a:rPr sz="2000" b="1" spc="254" dirty="0">
                <a:latin typeface="Tahoma"/>
                <a:cs typeface="Tahoma"/>
              </a:rPr>
              <a:t> </a:t>
            </a:r>
            <a:r>
              <a:rPr sz="2000" b="1" spc="-50" dirty="0">
                <a:latin typeface="Tahoma"/>
                <a:cs typeface="Tahoma"/>
              </a:rPr>
              <a:t>a</a:t>
            </a:r>
            <a:endParaRPr sz="2000" dirty="0">
              <a:latin typeface="Tahoma"/>
              <a:cs typeface="Tahoma"/>
            </a:endParaRPr>
          </a:p>
          <a:p>
            <a:pPr marL="1092835">
              <a:lnSpc>
                <a:spcPct val="100000"/>
              </a:lnSpc>
              <a:spcBef>
                <a:spcPts val="1200"/>
              </a:spcBef>
            </a:pPr>
            <a:r>
              <a:rPr sz="2000" b="1" spc="-70" dirty="0">
                <a:latin typeface="Tahoma"/>
                <a:cs typeface="Tahoma"/>
              </a:rPr>
              <a:t>Sustainable</a:t>
            </a:r>
            <a:r>
              <a:rPr sz="2000" b="1" spc="-100" dirty="0">
                <a:latin typeface="Tahoma"/>
                <a:cs typeface="Tahoma"/>
              </a:rPr>
              <a:t> </a:t>
            </a:r>
            <a:r>
              <a:rPr sz="2000" b="1" spc="-10" dirty="0">
                <a:latin typeface="Tahoma"/>
                <a:cs typeface="Tahoma"/>
              </a:rPr>
              <a:t>Ecosystem</a:t>
            </a:r>
            <a:r>
              <a:rPr sz="2000" spc="-10" dirty="0">
                <a:latin typeface="Verdana"/>
                <a:cs typeface="Verdana"/>
              </a:rPr>
              <a:t>.</a:t>
            </a:r>
            <a:endParaRPr sz="2000" dirty="0">
              <a:latin typeface="Verdana"/>
              <a:cs typeface="Verdana"/>
            </a:endParaRPr>
          </a:p>
          <a:p>
            <a:pPr marL="3804920" marR="3092450" indent="-29209" algn="just">
              <a:lnSpc>
                <a:spcPts val="4010"/>
              </a:lnSpc>
              <a:spcBef>
                <a:spcPts val="185"/>
              </a:spcBef>
            </a:pPr>
            <a:r>
              <a:rPr sz="2000" b="1" spc="-70" dirty="0">
                <a:solidFill>
                  <a:srgbClr val="C00000"/>
                </a:solidFill>
                <a:latin typeface="Tahoma"/>
                <a:cs typeface="Tahoma"/>
              </a:rPr>
              <a:t>Domain:</a:t>
            </a:r>
            <a:r>
              <a:rPr sz="2000" b="1" spc="-114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Tahoma"/>
                <a:cs typeface="Tahoma"/>
              </a:rPr>
              <a:t>Networking </a:t>
            </a:r>
            <a:r>
              <a:rPr sz="2000" b="1" spc="-90" dirty="0">
                <a:solidFill>
                  <a:srgbClr val="C00000"/>
                </a:solidFill>
                <a:latin typeface="Tahoma"/>
                <a:cs typeface="Tahoma"/>
              </a:rPr>
              <a:t>Date: </a:t>
            </a:r>
            <a:r>
              <a:rPr sz="2000" b="1" spc="-120" dirty="0">
                <a:solidFill>
                  <a:srgbClr val="C00000"/>
                </a:solidFill>
                <a:latin typeface="Tahoma"/>
                <a:cs typeface="Tahoma"/>
              </a:rPr>
              <a:t>08-</a:t>
            </a:r>
            <a:r>
              <a:rPr sz="2000" b="1" spc="-145" dirty="0">
                <a:solidFill>
                  <a:srgbClr val="C00000"/>
                </a:solidFill>
                <a:latin typeface="Tahoma"/>
                <a:cs typeface="Tahoma"/>
              </a:rPr>
              <a:t>05-</a:t>
            </a:r>
            <a:r>
              <a:rPr sz="2000" b="1" spc="-20" dirty="0">
                <a:solidFill>
                  <a:srgbClr val="C00000"/>
                </a:solidFill>
                <a:latin typeface="Tahoma"/>
                <a:cs typeface="Tahoma"/>
              </a:rPr>
              <a:t>2026</a:t>
            </a:r>
            <a:endParaRPr sz="20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80"/>
              </a:spcBef>
            </a:pPr>
            <a:endParaRPr sz="20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spc="-75" dirty="0">
                <a:solidFill>
                  <a:srgbClr val="C00000"/>
                </a:solidFill>
                <a:latin typeface="Tahoma"/>
                <a:cs typeface="Tahoma"/>
              </a:rPr>
              <a:t>Project</a:t>
            </a:r>
            <a:r>
              <a:rPr sz="2000" b="1" spc="-2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b="1" spc="-45" dirty="0">
                <a:solidFill>
                  <a:srgbClr val="C00000"/>
                </a:solidFill>
                <a:latin typeface="Tahoma"/>
                <a:cs typeface="Tahoma"/>
              </a:rPr>
              <a:t>Team</a:t>
            </a:r>
            <a:r>
              <a:rPr sz="2000" b="1" spc="-3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Tahoma"/>
                <a:cs typeface="Tahoma"/>
              </a:rPr>
              <a:t>Members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48736" y="6535318"/>
            <a:ext cx="5694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006DC0"/>
                </a:solidFill>
                <a:latin typeface="Verdana"/>
                <a:cs typeface="Verdana"/>
              </a:rPr>
              <a:t>Vel</a:t>
            </a:r>
            <a:r>
              <a:rPr sz="1200" spc="-105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006DC0"/>
                </a:solidFill>
                <a:latin typeface="Verdana"/>
                <a:cs typeface="Verdana"/>
              </a:rPr>
              <a:t>Tech</a:t>
            </a:r>
            <a:r>
              <a:rPr sz="1200" spc="-105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6DC0"/>
                </a:solidFill>
                <a:latin typeface="Verdana"/>
                <a:cs typeface="Verdana"/>
              </a:rPr>
              <a:t>Rangarajan</a:t>
            </a:r>
            <a:r>
              <a:rPr sz="1200" spc="7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70" dirty="0">
                <a:solidFill>
                  <a:srgbClr val="006DC0"/>
                </a:solidFill>
                <a:latin typeface="Verdana"/>
                <a:cs typeface="Verdana"/>
              </a:rPr>
              <a:t>Dr.</a:t>
            </a:r>
            <a:r>
              <a:rPr sz="1200" spc="-235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006DC0"/>
                </a:solidFill>
                <a:latin typeface="Verdana"/>
                <a:cs typeface="Verdana"/>
              </a:rPr>
              <a:t>Sagunthala</a:t>
            </a:r>
            <a:r>
              <a:rPr sz="1200" spc="3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45" dirty="0">
                <a:solidFill>
                  <a:srgbClr val="006DC0"/>
                </a:solidFill>
                <a:latin typeface="Verdana"/>
                <a:cs typeface="Verdana"/>
              </a:rPr>
              <a:t>R&amp;D</a:t>
            </a:r>
            <a:r>
              <a:rPr sz="1200" spc="-16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100" dirty="0">
                <a:solidFill>
                  <a:srgbClr val="006DC0"/>
                </a:solidFill>
                <a:latin typeface="Verdana"/>
                <a:cs typeface="Verdana"/>
              </a:rPr>
              <a:t>Institute</a:t>
            </a:r>
            <a:r>
              <a:rPr sz="1200" spc="-13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6DC0"/>
                </a:solidFill>
                <a:latin typeface="Verdana"/>
                <a:cs typeface="Verdana"/>
              </a:rPr>
              <a:t>of</a:t>
            </a:r>
            <a:r>
              <a:rPr sz="1200" spc="-65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006DC0"/>
                </a:solidFill>
                <a:latin typeface="Verdana"/>
                <a:cs typeface="Verdana"/>
              </a:rPr>
              <a:t>Science</a:t>
            </a:r>
            <a:r>
              <a:rPr sz="1200" spc="-6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6DC0"/>
                </a:solidFill>
                <a:latin typeface="Verdana"/>
                <a:cs typeface="Verdana"/>
              </a:rPr>
              <a:t>and</a:t>
            </a:r>
            <a:r>
              <a:rPr sz="1200" spc="-45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6DC0"/>
                </a:solidFill>
                <a:latin typeface="Verdana"/>
                <a:cs typeface="Verdana"/>
              </a:rPr>
              <a:t>Technology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855197" y="6569150"/>
            <a:ext cx="122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68686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23561" y="483488"/>
            <a:ext cx="22117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Content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7204" y="1193038"/>
            <a:ext cx="6562090" cy="4126229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Verdana"/>
                <a:cs typeface="Verdana"/>
              </a:rPr>
              <a:t>Abstract</a:t>
            </a:r>
            <a:endParaRPr sz="24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55" dirty="0">
                <a:latin typeface="Verdana"/>
                <a:cs typeface="Verdana"/>
              </a:rPr>
              <a:t>Motivation</a:t>
            </a:r>
            <a:r>
              <a:rPr sz="2400" spc="-114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Introduction</a:t>
            </a:r>
            <a:endParaRPr sz="24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Verdana"/>
                <a:cs typeface="Verdana"/>
              </a:rPr>
              <a:t>Objective</a:t>
            </a:r>
            <a:endParaRPr sz="24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14" dirty="0">
                <a:latin typeface="Verdana"/>
                <a:cs typeface="Verdana"/>
              </a:rPr>
              <a:t>Literature</a:t>
            </a:r>
            <a:r>
              <a:rPr sz="2400" spc="-34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survey</a:t>
            </a:r>
            <a:endParaRPr sz="24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Verdana"/>
                <a:cs typeface="Verdana"/>
              </a:rPr>
              <a:t>Methodology</a:t>
            </a:r>
            <a:endParaRPr sz="2400">
              <a:latin typeface="Verdana"/>
              <a:cs typeface="Verdana"/>
            </a:endParaRPr>
          </a:p>
          <a:p>
            <a:pPr marL="353695" indent="-340995">
              <a:lnSpc>
                <a:spcPct val="100000"/>
              </a:lnSpc>
              <a:spcBef>
                <a:spcPts val="250"/>
              </a:spcBef>
              <a:buChar char="•"/>
              <a:tabLst>
                <a:tab pos="353695" algn="l"/>
              </a:tabLst>
            </a:pPr>
            <a:r>
              <a:rPr sz="2800" spc="-10" dirty="0">
                <a:latin typeface="Arial MT"/>
                <a:cs typeface="Arial MT"/>
              </a:rPr>
              <a:t>Implementation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Details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Description</a:t>
            </a: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35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Verdana"/>
                <a:cs typeface="Verdana"/>
              </a:rPr>
              <a:t>Block</a:t>
            </a:r>
            <a:r>
              <a:rPr sz="2400" spc="-1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&amp;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circuit</a:t>
            </a:r>
            <a:r>
              <a:rPr sz="2400" spc="-9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Diagram</a:t>
            </a:r>
            <a:endParaRPr sz="24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75" dirty="0">
                <a:latin typeface="Verdana"/>
                <a:cs typeface="Verdana"/>
              </a:rPr>
              <a:t>Software/Hardware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</a:t>
            </a:r>
            <a:r>
              <a:rPr sz="2400" spc="-10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be</a:t>
            </a:r>
            <a:r>
              <a:rPr sz="2400" spc="140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used</a:t>
            </a:r>
            <a:endParaRPr sz="24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40" dirty="0">
                <a:latin typeface="Verdana"/>
                <a:cs typeface="Verdana"/>
              </a:rPr>
              <a:t>Results</a:t>
            </a:r>
            <a:endParaRPr sz="24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Verdana"/>
                <a:cs typeface="Verdana"/>
              </a:rPr>
              <a:t>References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4762" y="-1841"/>
            <a:ext cx="281305" cy="2437765"/>
            <a:chOff x="-4762" y="-1841"/>
            <a:chExt cx="281305" cy="24377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34" y="12699"/>
              <a:ext cx="269925" cy="242265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921"/>
              <a:ext cx="242392" cy="237629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2921"/>
              <a:ext cx="242570" cy="2376805"/>
            </a:xfrm>
            <a:custGeom>
              <a:avLst/>
              <a:gdLst/>
              <a:ahLst/>
              <a:cxnLst/>
              <a:rect l="l" t="t" r="r" b="b"/>
              <a:pathLst>
                <a:path w="242570" h="2376805">
                  <a:moveTo>
                    <a:pt x="0" y="2376296"/>
                  </a:moveTo>
                  <a:lnTo>
                    <a:pt x="242392" y="2376296"/>
                  </a:lnTo>
                  <a:lnTo>
                    <a:pt x="242392" y="0"/>
                  </a:lnTo>
                  <a:lnTo>
                    <a:pt x="0" y="0"/>
                  </a:lnTo>
                  <a:lnTo>
                    <a:pt x="0" y="2376296"/>
                  </a:lnTo>
                  <a:close/>
                </a:path>
              </a:pathLst>
            </a:custGeom>
            <a:ln w="9525">
              <a:solidFill>
                <a:srgbClr val="46AA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1149456" y="4467092"/>
            <a:ext cx="285750" cy="2391410"/>
            <a:chOff x="11149456" y="4467092"/>
            <a:chExt cx="285750" cy="239141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49456" y="4467092"/>
              <a:ext cx="280504" cy="239090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87556" y="4475811"/>
              <a:ext cx="242392" cy="237629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1187556" y="4475816"/>
              <a:ext cx="242570" cy="2376805"/>
            </a:xfrm>
            <a:custGeom>
              <a:avLst/>
              <a:gdLst/>
              <a:ahLst/>
              <a:cxnLst/>
              <a:rect l="l" t="t" r="r" b="b"/>
              <a:pathLst>
                <a:path w="242570" h="2376804">
                  <a:moveTo>
                    <a:pt x="0" y="2376297"/>
                  </a:moveTo>
                  <a:lnTo>
                    <a:pt x="242392" y="2376297"/>
                  </a:lnTo>
                  <a:lnTo>
                    <a:pt x="242392" y="0"/>
                  </a:lnTo>
                  <a:lnTo>
                    <a:pt x="0" y="0"/>
                  </a:lnTo>
                  <a:lnTo>
                    <a:pt x="0" y="2376297"/>
                  </a:lnTo>
                  <a:close/>
                </a:path>
              </a:pathLst>
            </a:custGeom>
            <a:ln w="9525">
              <a:solidFill>
                <a:srgbClr val="46AA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0672953" y="6431991"/>
            <a:ext cx="122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68686"/>
                </a:solidFill>
                <a:latin typeface="Verdana"/>
                <a:cs typeface="Verdana"/>
              </a:rPr>
              <a:t>2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27401" y="6535318"/>
            <a:ext cx="5699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006DC0"/>
                </a:solidFill>
                <a:latin typeface="Verdana"/>
                <a:cs typeface="Verdana"/>
              </a:rPr>
              <a:t>Vel</a:t>
            </a:r>
            <a:r>
              <a:rPr sz="1200" spc="-105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006DC0"/>
                </a:solidFill>
                <a:latin typeface="Verdana"/>
                <a:cs typeface="Verdana"/>
              </a:rPr>
              <a:t>Tech</a:t>
            </a:r>
            <a:r>
              <a:rPr sz="1200" spc="-105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6DC0"/>
                </a:solidFill>
                <a:latin typeface="Verdana"/>
                <a:cs typeface="Verdana"/>
              </a:rPr>
              <a:t>Rangarajan</a:t>
            </a:r>
            <a:r>
              <a:rPr sz="1200" spc="7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70" dirty="0">
                <a:solidFill>
                  <a:srgbClr val="006DC0"/>
                </a:solidFill>
                <a:latin typeface="Verdana"/>
                <a:cs typeface="Verdana"/>
              </a:rPr>
              <a:t>Dr.</a:t>
            </a:r>
            <a:r>
              <a:rPr sz="1200" spc="-25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006DC0"/>
                </a:solidFill>
                <a:latin typeface="Verdana"/>
                <a:cs typeface="Verdana"/>
              </a:rPr>
              <a:t>Sagunthala</a:t>
            </a:r>
            <a:r>
              <a:rPr sz="1200" spc="3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45" dirty="0">
                <a:solidFill>
                  <a:srgbClr val="006DC0"/>
                </a:solidFill>
                <a:latin typeface="Verdana"/>
                <a:cs typeface="Verdana"/>
              </a:rPr>
              <a:t>R&amp;D</a:t>
            </a:r>
            <a:r>
              <a:rPr sz="1200" spc="-15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100" dirty="0">
                <a:solidFill>
                  <a:srgbClr val="006DC0"/>
                </a:solidFill>
                <a:latin typeface="Verdana"/>
                <a:cs typeface="Verdana"/>
              </a:rPr>
              <a:t>Institute</a:t>
            </a:r>
            <a:r>
              <a:rPr sz="1200" spc="-12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6DC0"/>
                </a:solidFill>
                <a:latin typeface="Verdana"/>
                <a:cs typeface="Verdana"/>
              </a:rPr>
              <a:t>of</a:t>
            </a:r>
            <a:r>
              <a:rPr sz="1200" spc="-8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006DC0"/>
                </a:solidFill>
                <a:latin typeface="Verdana"/>
                <a:cs typeface="Verdana"/>
              </a:rPr>
              <a:t>Science</a:t>
            </a:r>
            <a:r>
              <a:rPr sz="1200" spc="-7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6DC0"/>
                </a:solidFill>
                <a:latin typeface="Verdana"/>
                <a:cs typeface="Verdana"/>
              </a:rPr>
              <a:t>and</a:t>
            </a:r>
            <a:r>
              <a:rPr sz="1200" spc="-2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6DC0"/>
                </a:solidFill>
                <a:latin typeface="Verdana"/>
                <a:cs typeface="Verdana"/>
              </a:rPr>
              <a:t>Technology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3251" rIns="0" bIns="0" rtlCol="0">
            <a:spAutoFit/>
          </a:bodyPr>
          <a:lstStyle/>
          <a:p>
            <a:pPr marL="407416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Abstract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195" y="1354074"/>
            <a:ext cx="10466705" cy="3684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Verdana"/>
                <a:cs typeface="Verdana"/>
              </a:rPr>
              <a:t>This</a:t>
            </a:r>
            <a:r>
              <a:rPr sz="2000" spc="4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project</a:t>
            </a:r>
            <a:r>
              <a:rPr sz="2000" spc="4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presents</a:t>
            </a:r>
            <a:r>
              <a:rPr sz="2000" spc="4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44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AI-</a:t>
            </a:r>
            <a:r>
              <a:rPr sz="2000" dirty="0">
                <a:latin typeface="Verdana"/>
                <a:cs typeface="Verdana"/>
              </a:rPr>
              <a:t>based</a:t>
            </a:r>
            <a:r>
              <a:rPr sz="2000" spc="455" dirty="0">
                <a:latin typeface="Verdana"/>
                <a:cs typeface="Verdana"/>
              </a:rPr>
              <a:t> </a:t>
            </a:r>
            <a:r>
              <a:rPr sz="2000" spc="-30" dirty="0">
                <a:latin typeface="Verdana"/>
                <a:cs typeface="Verdana"/>
              </a:rPr>
              <a:t>real-</a:t>
            </a:r>
            <a:r>
              <a:rPr sz="2000" dirty="0">
                <a:latin typeface="Verdana"/>
                <a:cs typeface="Verdana"/>
              </a:rPr>
              <a:t>time</a:t>
            </a:r>
            <a:r>
              <a:rPr sz="2000" spc="4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environmental</a:t>
            </a:r>
            <a:r>
              <a:rPr sz="2000" spc="4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monitoring</a:t>
            </a:r>
            <a:r>
              <a:rPr sz="2000" spc="4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system </a:t>
            </a:r>
            <a:r>
              <a:rPr sz="2000" dirty="0">
                <a:latin typeface="Verdana"/>
                <a:cs typeface="Verdana"/>
              </a:rPr>
              <a:t>that</a:t>
            </a:r>
            <a:r>
              <a:rPr sz="2000" spc="-7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integrates</a:t>
            </a:r>
            <a:r>
              <a:rPr sz="2000" spc="-8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IoT</a:t>
            </a:r>
            <a:r>
              <a:rPr sz="2000" spc="-7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8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sensor</a:t>
            </a:r>
            <a:r>
              <a:rPr sz="2000" spc="-8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technologies</a:t>
            </a:r>
            <a:r>
              <a:rPr sz="2000" spc="-5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8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continuously</a:t>
            </a:r>
            <a:r>
              <a:rPr sz="2000" spc="-7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track</a:t>
            </a:r>
            <a:r>
              <a:rPr sz="2000" spc="-7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air</a:t>
            </a:r>
            <a:r>
              <a:rPr sz="2000" spc="-85" dirty="0">
                <a:latin typeface="Verdana"/>
                <a:cs typeface="Verdana"/>
              </a:rPr>
              <a:t>  </a:t>
            </a:r>
            <a:r>
              <a:rPr sz="2000" spc="-10" dirty="0">
                <a:latin typeface="Verdana"/>
                <a:cs typeface="Verdana"/>
              </a:rPr>
              <a:t>quality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48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water</a:t>
            </a:r>
            <a:r>
              <a:rPr sz="2000" spc="4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parameters</a:t>
            </a:r>
            <a:r>
              <a:rPr sz="2000" spc="4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such</a:t>
            </a:r>
            <a:r>
              <a:rPr sz="2000" spc="-10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as</a:t>
            </a:r>
            <a:r>
              <a:rPr sz="2000" spc="4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TDS</a:t>
            </a:r>
            <a:r>
              <a:rPr sz="2000" spc="4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4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turbidity.</a:t>
            </a:r>
            <a:r>
              <a:rPr sz="2000" spc="-9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4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system</a:t>
            </a:r>
            <a:r>
              <a:rPr sz="2000" spc="4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uses</a:t>
            </a:r>
            <a:r>
              <a:rPr sz="2000" spc="-10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29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locally </a:t>
            </a:r>
            <a:r>
              <a:rPr sz="2000" dirty="0">
                <a:latin typeface="Verdana"/>
                <a:cs typeface="Verdana"/>
              </a:rPr>
              <a:t>hosted</a:t>
            </a:r>
            <a:r>
              <a:rPr sz="2000" spc="35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AI</a:t>
            </a:r>
            <a:r>
              <a:rPr sz="2000" spc="35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server</a:t>
            </a:r>
            <a:r>
              <a:rPr sz="2000" spc="35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36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reduce</a:t>
            </a:r>
            <a:r>
              <a:rPr sz="2000" spc="35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dependence</a:t>
            </a:r>
            <a:r>
              <a:rPr sz="2000" spc="35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on</a:t>
            </a:r>
            <a:r>
              <a:rPr sz="2000" spc="35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cloud</a:t>
            </a:r>
            <a:r>
              <a:rPr sz="2000" spc="36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computing,</a:t>
            </a:r>
            <a:r>
              <a:rPr sz="2000" spc="360" dirty="0">
                <a:latin typeface="Verdana"/>
                <a:cs typeface="Verdana"/>
              </a:rPr>
              <a:t>  </a:t>
            </a:r>
            <a:r>
              <a:rPr sz="2000" spc="-10" dirty="0">
                <a:latin typeface="Verdana"/>
                <a:cs typeface="Verdana"/>
              </a:rPr>
              <a:t>thereby </a:t>
            </a:r>
            <a:r>
              <a:rPr sz="2000" dirty="0">
                <a:latin typeface="Verdana"/>
                <a:cs typeface="Verdana"/>
              </a:rPr>
              <a:t>improving</a:t>
            </a:r>
            <a:r>
              <a:rPr sz="2000" spc="-8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energy</a:t>
            </a:r>
            <a:r>
              <a:rPr sz="2000" spc="-7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efficiency</a:t>
            </a:r>
            <a:r>
              <a:rPr sz="2000" spc="-7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8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ensuring</a:t>
            </a:r>
            <a:r>
              <a:rPr sz="2000" spc="-9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faster</a:t>
            </a:r>
            <a:r>
              <a:rPr sz="2000" spc="-8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data</a:t>
            </a:r>
            <a:r>
              <a:rPr sz="2000" spc="-9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processing.</a:t>
            </a:r>
            <a:r>
              <a:rPr sz="2000" spc="-7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It</a:t>
            </a:r>
            <a:r>
              <a:rPr sz="2000" spc="-80" dirty="0">
                <a:latin typeface="Verdana"/>
                <a:cs typeface="Verdana"/>
              </a:rPr>
              <a:t>  </a:t>
            </a:r>
            <a:r>
              <a:rPr sz="2000" spc="-10" dirty="0">
                <a:latin typeface="Verdana"/>
                <a:cs typeface="Verdana"/>
              </a:rPr>
              <a:t>supports </a:t>
            </a:r>
            <a:r>
              <a:rPr sz="2000" b="1" dirty="0">
                <a:latin typeface="Verdana"/>
                <a:cs typeface="Verdana"/>
              </a:rPr>
              <a:t>SDG</a:t>
            </a:r>
            <a:r>
              <a:rPr sz="2000" b="1" spc="38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9</a:t>
            </a:r>
            <a:r>
              <a:rPr sz="2000" b="1" spc="39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(Industry,</a:t>
            </a:r>
            <a:r>
              <a:rPr sz="2000" b="1" spc="395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Innovation</a:t>
            </a:r>
            <a:r>
              <a:rPr sz="2000" b="1" spc="39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and</a:t>
            </a:r>
            <a:r>
              <a:rPr sz="2000" b="1" spc="395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Infrastructure)</a:t>
            </a:r>
            <a:r>
              <a:rPr sz="2000" dirty="0">
                <a:latin typeface="Verdana"/>
                <a:cs typeface="Verdana"/>
              </a:rPr>
              <a:t>,</a:t>
            </a:r>
            <a:r>
              <a:rPr sz="2000" spc="355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SDG</a:t>
            </a:r>
            <a:r>
              <a:rPr sz="2000" b="1" spc="385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6</a:t>
            </a:r>
            <a:r>
              <a:rPr sz="2000" b="1" spc="395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(Clean</a:t>
            </a:r>
            <a:r>
              <a:rPr sz="2000" b="1" spc="390" dirty="0">
                <a:latin typeface="Verdana"/>
                <a:cs typeface="Verdana"/>
              </a:rPr>
              <a:t> </a:t>
            </a:r>
            <a:r>
              <a:rPr sz="2000" b="1" spc="-10" dirty="0">
                <a:latin typeface="Verdana"/>
                <a:cs typeface="Verdana"/>
              </a:rPr>
              <a:t>Water </a:t>
            </a:r>
            <a:r>
              <a:rPr sz="2000" b="1" dirty="0">
                <a:latin typeface="Verdana"/>
                <a:cs typeface="Verdana"/>
              </a:rPr>
              <a:t>and</a:t>
            </a:r>
            <a:r>
              <a:rPr sz="2000" b="1" spc="85" dirty="0">
                <a:latin typeface="Verdana"/>
                <a:cs typeface="Verdana"/>
              </a:rPr>
              <a:t>  </a:t>
            </a:r>
            <a:r>
              <a:rPr sz="2000" b="1" dirty="0">
                <a:latin typeface="Verdana"/>
                <a:cs typeface="Verdana"/>
              </a:rPr>
              <a:t>Sanitation)</a:t>
            </a:r>
            <a:r>
              <a:rPr sz="2000" dirty="0">
                <a:latin typeface="Verdana"/>
                <a:cs typeface="Verdana"/>
              </a:rPr>
              <a:t>,</a:t>
            </a:r>
            <a:r>
              <a:rPr sz="2000" spc="8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SDG</a:t>
            </a:r>
            <a:r>
              <a:rPr sz="2000" b="1" spc="90" dirty="0">
                <a:latin typeface="Verdana"/>
                <a:cs typeface="Verdana"/>
              </a:rPr>
              <a:t>  </a:t>
            </a:r>
            <a:r>
              <a:rPr sz="2000" b="1" dirty="0">
                <a:latin typeface="Verdana"/>
                <a:cs typeface="Verdana"/>
              </a:rPr>
              <a:t>13</a:t>
            </a:r>
            <a:r>
              <a:rPr sz="2000" b="1" spc="100" dirty="0">
                <a:latin typeface="Verdana"/>
                <a:cs typeface="Verdana"/>
              </a:rPr>
              <a:t>  </a:t>
            </a:r>
            <a:r>
              <a:rPr sz="2000" b="1" dirty="0">
                <a:latin typeface="Verdana"/>
                <a:cs typeface="Verdana"/>
              </a:rPr>
              <a:t>(Climate</a:t>
            </a:r>
            <a:r>
              <a:rPr sz="2000" b="1" spc="85" dirty="0">
                <a:latin typeface="Verdana"/>
                <a:cs typeface="Verdana"/>
              </a:rPr>
              <a:t>  </a:t>
            </a:r>
            <a:r>
              <a:rPr sz="2000" b="1" dirty="0">
                <a:latin typeface="Verdana"/>
                <a:cs typeface="Verdana"/>
              </a:rPr>
              <a:t>Action)</a:t>
            </a:r>
            <a:r>
              <a:rPr sz="2000" b="1" spc="10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80" dirty="0">
                <a:latin typeface="Verdana"/>
                <a:cs typeface="Verdana"/>
              </a:rPr>
              <a:t>  </a:t>
            </a:r>
            <a:r>
              <a:rPr sz="2000" b="1" dirty="0">
                <a:latin typeface="Verdana"/>
                <a:cs typeface="Verdana"/>
              </a:rPr>
              <a:t>SDG</a:t>
            </a:r>
            <a:r>
              <a:rPr sz="2000" b="1" spc="95" dirty="0">
                <a:latin typeface="Verdana"/>
                <a:cs typeface="Verdana"/>
              </a:rPr>
              <a:t>  </a:t>
            </a:r>
            <a:r>
              <a:rPr sz="2000" b="1" dirty="0">
                <a:latin typeface="Verdana"/>
                <a:cs typeface="Verdana"/>
              </a:rPr>
              <a:t>12</a:t>
            </a:r>
            <a:r>
              <a:rPr sz="2000" b="1" spc="100" dirty="0">
                <a:latin typeface="Verdana"/>
                <a:cs typeface="Verdana"/>
              </a:rPr>
              <a:t>  </a:t>
            </a:r>
            <a:r>
              <a:rPr sz="2000" b="1" spc="-10" dirty="0">
                <a:latin typeface="Verdana"/>
                <a:cs typeface="Verdana"/>
              </a:rPr>
              <a:t>(Responsible </a:t>
            </a:r>
            <a:r>
              <a:rPr sz="2000" b="1" dirty="0">
                <a:latin typeface="Verdana"/>
                <a:cs typeface="Verdana"/>
              </a:rPr>
              <a:t>Consumption</a:t>
            </a:r>
            <a:r>
              <a:rPr sz="2000" b="1" spc="-55" dirty="0">
                <a:latin typeface="Verdana"/>
                <a:cs typeface="Verdana"/>
              </a:rPr>
              <a:t>  </a:t>
            </a:r>
            <a:r>
              <a:rPr sz="2000" b="1" dirty="0">
                <a:latin typeface="Verdana"/>
                <a:cs typeface="Verdana"/>
              </a:rPr>
              <a:t>and</a:t>
            </a:r>
            <a:r>
              <a:rPr sz="2000" b="1" spc="-45" dirty="0">
                <a:latin typeface="Verdana"/>
                <a:cs typeface="Verdana"/>
              </a:rPr>
              <a:t>  </a:t>
            </a:r>
            <a:r>
              <a:rPr sz="2000" b="1" dirty="0">
                <a:latin typeface="Verdana"/>
                <a:cs typeface="Verdana"/>
              </a:rPr>
              <a:t>Production)</a:t>
            </a:r>
            <a:r>
              <a:rPr sz="2000" b="1" spc="-6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by</a:t>
            </a:r>
            <a:r>
              <a:rPr sz="2000" spc="-6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enabling</a:t>
            </a:r>
            <a:r>
              <a:rPr sz="2000" spc="-5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efficient</a:t>
            </a:r>
            <a:r>
              <a:rPr sz="2000" spc="-6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resource</a:t>
            </a:r>
            <a:r>
              <a:rPr sz="2000" spc="-75" dirty="0">
                <a:latin typeface="Verdana"/>
                <a:cs typeface="Verdana"/>
              </a:rPr>
              <a:t>  </a:t>
            </a:r>
            <a:r>
              <a:rPr sz="2000" spc="-10" dirty="0">
                <a:latin typeface="Verdana"/>
                <a:cs typeface="Verdana"/>
              </a:rPr>
              <a:t>management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2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environmental</a:t>
            </a:r>
            <a:r>
              <a:rPr sz="2000" spc="2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protection.</a:t>
            </a:r>
            <a:r>
              <a:rPr sz="2000" spc="2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With</a:t>
            </a:r>
            <a:r>
              <a:rPr sz="2000" spc="2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229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low-</a:t>
            </a:r>
            <a:r>
              <a:rPr sz="2000" dirty="0">
                <a:latin typeface="Verdana"/>
                <a:cs typeface="Verdana"/>
              </a:rPr>
              <a:t>cost</a:t>
            </a:r>
            <a:r>
              <a:rPr sz="2000" spc="2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229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scalable</a:t>
            </a:r>
            <a:r>
              <a:rPr sz="2000" spc="2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design,</a:t>
            </a:r>
            <a:r>
              <a:rPr sz="2000" spc="2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2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system </a:t>
            </a:r>
            <a:r>
              <a:rPr sz="2000" dirty="0">
                <a:latin typeface="Verdana"/>
                <a:cs typeface="Verdana"/>
              </a:rPr>
              <a:t>can</a:t>
            </a:r>
            <a:r>
              <a:rPr sz="2000" spc="32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be</a:t>
            </a:r>
            <a:r>
              <a:rPr sz="2000" spc="32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implemented</a:t>
            </a:r>
            <a:r>
              <a:rPr sz="2000" spc="32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32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industries,</a:t>
            </a:r>
            <a:r>
              <a:rPr sz="2000" spc="32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smart</a:t>
            </a:r>
            <a:r>
              <a:rPr sz="2000" spc="32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cities,</a:t>
            </a:r>
            <a:r>
              <a:rPr sz="2000" spc="33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residential</a:t>
            </a:r>
            <a:r>
              <a:rPr sz="2000" spc="33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areas,</a:t>
            </a:r>
            <a:r>
              <a:rPr sz="2000" spc="330" dirty="0">
                <a:latin typeface="Verdana"/>
                <a:cs typeface="Verdana"/>
              </a:rPr>
              <a:t>  </a:t>
            </a:r>
            <a:r>
              <a:rPr sz="2000" spc="-25" dirty="0">
                <a:latin typeface="Verdana"/>
                <a:cs typeface="Verdana"/>
              </a:rPr>
              <a:t>and </a:t>
            </a:r>
            <a:r>
              <a:rPr sz="2000" dirty="0">
                <a:latin typeface="Verdana"/>
                <a:cs typeface="Verdana"/>
              </a:rPr>
              <a:t>agriculture,</a:t>
            </a:r>
            <a:r>
              <a:rPr sz="2000" spc="1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while</a:t>
            </a:r>
            <a:r>
              <a:rPr sz="2000" spc="20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its</a:t>
            </a:r>
            <a:r>
              <a:rPr sz="2000" spc="195" dirty="0">
                <a:latin typeface="Verdana"/>
                <a:cs typeface="Verdana"/>
              </a:rPr>
              <a:t> </a:t>
            </a:r>
            <a:r>
              <a:rPr sz="2000" spc="-40" dirty="0">
                <a:latin typeface="Verdana"/>
                <a:cs typeface="Verdana"/>
              </a:rPr>
              <a:t>real-</a:t>
            </a:r>
            <a:r>
              <a:rPr sz="2000" dirty="0">
                <a:latin typeface="Verdana"/>
                <a:cs typeface="Verdana"/>
              </a:rPr>
              <a:t>time</a:t>
            </a:r>
            <a:r>
              <a:rPr sz="2000" spc="20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alert</a:t>
            </a:r>
            <a:r>
              <a:rPr sz="2000" spc="20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mechanism</a:t>
            </a:r>
            <a:r>
              <a:rPr sz="2000" spc="1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enhances</a:t>
            </a:r>
            <a:r>
              <a:rPr sz="2000" spc="1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public</a:t>
            </a:r>
            <a:r>
              <a:rPr sz="2000" spc="2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awareness</a:t>
            </a:r>
            <a:r>
              <a:rPr sz="2000" spc="19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and </a:t>
            </a:r>
            <a:r>
              <a:rPr sz="2000" dirty="0">
                <a:latin typeface="Verdana"/>
                <a:cs typeface="Verdana"/>
              </a:rPr>
              <a:t>promotes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cleaner,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safer,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more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sustainable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environment.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3036" rIns="0" bIns="0" rtlCol="0">
            <a:spAutoFit/>
          </a:bodyPr>
          <a:lstStyle/>
          <a:p>
            <a:pPr marL="1857375">
              <a:lnSpc>
                <a:spcPct val="100000"/>
              </a:lnSpc>
              <a:spcBef>
                <a:spcPts val="95"/>
              </a:spcBef>
            </a:pPr>
            <a:r>
              <a:rPr sz="4000" spc="-140" dirty="0"/>
              <a:t>Motivation</a:t>
            </a:r>
            <a:r>
              <a:rPr sz="4000" spc="-254" dirty="0"/>
              <a:t> </a:t>
            </a:r>
            <a:r>
              <a:rPr sz="4000" dirty="0"/>
              <a:t>and</a:t>
            </a:r>
            <a:r>
              <a:rPr sz="4000" spc="-105" dirty="0"/>
              <a:t> </a:t>
            </a:r>
            <a:r>
              <a:rPr sz="4000" spc="-120" dirty="0"/>
              <a:t>Introduction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92684" y="1342771"/>
            <a:ext cx="10163810" cy="418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12065" indent="-33782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Verdana"/>
                <a:cs typeface="Verdana"/>
              </a:rPr>
              <a:t>Environmental</a:t>
            </a:r>
            <a:r>
              <a:rPr sz="2400" spc="3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pollution</a:t>
            </a:r>
            <a:r>
              <a:rPr sz="2400" spc="4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is</a:t>
            </a:r>
            <a:r>
              <a:rPr sz="2400" spc="3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one</a:t>
            </a:r>
            <a:r>
              <a:rPr sz="2400" spc="3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3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</a:t>
            </a:r>
            <a:r>
              <a:rPr sz="2400" spc="3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most</a:t>
            </a:r>
            <a:r>
              <a:rPr sz="2400" spc="3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critical</a:t>
            </a:r>
            <a:r>
              <a:rPr sz="2400" spc="39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challenges 	</a:t>
            </a:r>
            <a:r>
              <a:rPr sz="2400" spc="55" dirty="0">
                <a:latin typeface="Verdana"/>
                <a:cs typeface="Verdana"/>
              </a:rPr>
              <a:t>faced</a:t>
            </a:r>
            <a:r>
              <a:rPr sz="2400" spc="114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by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modern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society.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Water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pollution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affects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spc="-65" dirty="0">
                <a:latin typeface="Verdana"/>
                <a:cs typeface="Verdana"/>
              </a:rPr>
              <a:t>drinking</a:t>
            </a:r>
            <a:r>
              <a:rPr sz="2400" spc="-9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water 	</a:t>
            </a:r>
            <a:r>
              <a:rPr sz="2400" spc="-70" dirty="0">
                <a:latin typeface="Verdana"/>
                <a:cs typeface="Verdana"/>
              </a:rPr>
              <a:t>sources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aquatic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5" dirty="0">
                <a:latin typeface="Verdana"/>
                <a:cs typeface="Verdana"/>
              </a:rPr>
              <a:t>life, </a:t>
            </a:r>
            <a:r>
              <a:rPr sz="2400" spc="-25" dirty="0">
                <a:latin typeface="Verdana"/>
                <a:cs typeface="Verdana"/>
              </a:rPr>
              <a:t>while</a:t>
            </a:r>
            <a:r>
              <a:rPr sz="2400" spc="-114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air</a:t>
            </a:r>
            <a:r>
              <a:rPr sz="2400" spc="-105" dirty="0">
                <a:latin typeface="Verdana"/>
                <a:cs typeface="Verdana"/>
              </a:rPr>
              <a:t> </a:t>
            </a:r>
            <a:r>
              <a:rPr sz="2400" spc="-50" dirty="0">
                <a:latin typeface="Verdana"/>
                <a:cs typeface="Verdana"/>
              </a:rPr>
              <a:t>pollution</a:t>
            </a:r>
            <a:r>
              <a:rPr sz="2400" spc="-9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leads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severe</a:t>
            </a:r>
            <a:r>
              <a:rPr sz="2400" spc="-12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health 	</a:t>
            </a:r>
            <a:r>
              <a:rPr sz="2400" dirty="0">
                <a:latin typeface="Verdana"/>
                <a:cs typeface="Verdana"/>
              </a:rPr>
              <a:t>problems</a:t>
            </a:r>
            <a:r>
              <a:rPr sz="2400" spc="85" dirty="0">
                <a:latin typeface="Verdana"/>
                <a:cs typeface="Verdana"/>
              </a:rPr>
              <a:t>  </a:t>
            </a:r>
            <a:r>
              <a:rPr sz="2400" dirty="0">
                <a:latin typeface="Verdana"/>
                <a:cs typeface="Verdana"/>
              </a:rPr>
              <a:t>such</a:t>
            </a:r>
            <a:r>
              <a:rPr sz="2400" spc="90" dirty="0">
                <a:latin typeface="Verdana"/>
                <a:cs typeface="Verdana"/>
              </a:rPr>
              <a:t>  </a:t>
            </a:r>
            <a:r>
              <a:rPr sz="2400" dirty="0">
                <a:latin typeface="Verdana"/>
                <a:cs typeface="Verdana"/>
              </a:rPr>
              <a:t>as</a:t>
            </a:r>
            <a:r>
              <a:rPr sz="2400" spc="90" dirty="0">
                <a:latin typeface="Verdana"/>
                <a:cs typeface="Verdana"/>
              </a:rPr>
              <a:t>  </a:t>
            </a:r>
            <a:r>
              <a:rPr sz="2400" dirty="0">
                <a:latin typeface="Verdana"/>
                <a:cs typeface="Verdana"/>
              </a:rPr>
              <a:t>respiratory</a:t>
            </a:r>
            <a:r>
              <a:rPr sz="2400" spc="85" dirty="0">
                <a:latin typeface="Verdana"/>
                <a:cs typeface="Verdana"/>
              </a:rPr>
              <a:t> 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125" dirty="0">
                <a:latin typeface="Verdana"/>
                <a:cs typeface="Verdana"/>
              </a:rPr>
              <a:t>  </a:t>
            </a:r>
            <a:r>
              <a:rPr sz="2400" dirty="0">
                <a:latin typeface="Verdana"/>
                <a:cs typeface="Verdana"/>
              </a:rPr>
              <a:t>cardiovascular</a:t>
            </a:r>
            <a:r>
              <a:rPr sz="2400" spc="90" dirty="0">
                <a:latin typeface="Verdana"/>
                <a:cs typeface="Verdana"/>
              </a:rPr>
              <a:t>  </a:t>
            </a:r>
            <a:r>
              <a:rPr sz="2400" spc="-10" dirty="0">
                <a:latin typeface="Verdana"/>
                <a:cs typeface="Verdana"/>
              </a:rPr>
              <a:t>diseases. 	</a:t>
            </a:r>
            <a:r>
              <a:rPr sz="2400" spc="-100" dirty="0">
                <a:latin typeface="Verdana"/>
                <a:cs typeface="Verdana"/>
              </a:rPr>
              <a:t>Traditional</a:t>
            </a:r>
            <a:r>
              <a:rPr sz="2400" spc="-114" dirty="0">
                <a:latin typeface="Verdana"/>
                <a:cs typeface="Verdana"/>
              </a:rPr>
              <a:t> </a:t>
            </a:r>
            <a:r>
              <a:rPr sz="2400" spc="-55" dirty="0">
                <a:latin typeface="Verdana"/>
                <a:cs typeface="Verdana"/>
              </a:rPr>
              <a:t>environmental</a:t>
            </a:r>
            <a:r>
              <a:rPr sz="2400" spc="-120" dirty="0">
                <a:latin typeface="Verdana"/>
                <a:cs typeface="Verdana"/>
              </a:rPr>
              <a:t> </a:t>
            </a:r>
            <a:r>
              <a:rPr sz="2400" spc="-85" dirty="0">
                <a:latin typeface="Verdana"/>
                <a:cs typeface="Verdana"/>
              </a:rPr>
              <a:t>monitoring</a:t>
            </a:r>
            <a:r>
              <a:rPr sz="2400" spc="-9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methods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are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-145" dirty="0">
                <a:latin typeface="Verdana"/>
                <a:cs typeface="Verdana"/>
              </a:rPr>
              <a:t>mostly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manual, 	</a:t>
            </a:r>
            <a:r>
              <a:rPr sz="2400" spc="-160" dirty="0">
                <a:latin typeface="Verdana"/>
                <a:cs typeface="Verdana"/>
              </a:rPr>
              <a:t>time-</a:t>
            </a:r>
            <a:r>
              <a:rPr sz="2400" spc="-85" dirty="0">
                <a:latin typeface="Verdana"/>
                <a:cs typeface="Verdana"/>
              </a:rPr>
              <a:t>consuming,</a:t>
            </a:r>
            <a:r>
              <a:rPr sz="2400" spc="-1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provide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delayed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results.</a:t>
            </a: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Font typeface="Arial MT"/>
              <a:buChar char="•"/>
            </a:pPr>
            <a:endParaRPr sz="2400">
              <a:latin typeface="Verdana"/>
              <a:cs typeface="Verdana"/>
            </a:endParaRPr>
          </a:p>
          <a:p>
            <a:pPr marL="350520" marR="5080" indent="-337820" algn="just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Verdana"/>
                <a:cs typeface="Verdana"/>
              </a:rPr>
              <a:t>This</a:t>
            </a:r>
            <a:r>
              <a:rPr sz="2400" spc="80" dirty="0">
                <a:latin typeface="Verdana"/>
                <a:cs typeface="Verdana"/>
              </a:rPr>
              <a:t>  </a:t>
            </a:r>
            <a:r>
              <a:rPr sz="2400" dirty="0">
                <a:latin typeface="Verdana"/>
                <a:cs typeface="Verdana"/>
              </a:rPr>
              <a:t>project</a:t>
            </a:r>
            <a:r>
              <a:rPr sz="2400" spc="80" dirty="0">
                <a:latin typeface="Verdana"/>
                <a:cs typeface="Verdana"/>
              </a:rPr>
              <a:t>  </a:t>
            </a:r>
            <a:r>
              <a:rPr sz="2400" dirty="0">
                <a:latin typeface="Verdana"/>
                <a:cs typeface="Verdana"/>
              </a:rPr>
              <a:t>proposes</a:t>
            </a:r>
            <a:r>
              <a:rPr sz="2400" spc="85" dirty="0">
                <a:latin typeface="Verdana"/>
                <a:cs typeface="Verdana"/>
              </a:rPr>
              <a:t>  </a:t>
            </a:r>
            <a:r>
              <a:rPr sz="2400" dirty="0">
                <a:latin typeface="Verdana"/>
                <a:cs typeface="Verdana"/>
              </a:rPr>
              <a:t>an</a:t>
            </a:r>
            <a:r>
              <a:rPr sz="2400" spc="130" dirty="0">
                <a:latin typeface="Verdana"/>
                <a:cs typeface="Verdana"/>
              </a:rPr>
              <a:t>  </a:t>
            </a:r>
            <a:r>
              <a:rPr sz="2400" b="1" spc="-170" dirty="0">
                <a:latin typeface="Tahoma"/>
                <a:cs typeface="Tahoma"/>
              </a:rPr>
              <a:t>AI-</a:t>
            </a:r>
            <a:r>
              <a:rPr sz="2400" b="1" dirty="0">
                <a:latin typeface="Tahoma"/>
                <a:cs typeface="Tahoma"/>
              </a:rPr>
              <a:t>based</a:t>
            </a:r>
            <a:r>
              <a:rPr sz="2400" b="1" spc="229" dirty="0">
                <a:latin typeface="Tahoma"/>
                <a:cs typeface="Tahoma"/>
              </a:rPr>
              <a:t>  </a:t>
            </a:r>
            <a:r>
              <a:rPr sz="2400" b="1" spc="-80" dirty="0">
                <a:latin typeface="Tahoma"/>
                <a:cs typeface="Tahoma"/>
              </a:rPr>
              <a:t>real-</a:t>
            </a:r>
            <a:r>
              <a:rPr sz="2400" b="1" dirty="0">
                <a:latin typeface="Tahoma"/>
                <a:cs typeface="Tahoma"/>
              </a:rPr>
              <a:t>time</a:t>
            </a:r>
            <a:r>
              <a:rPr sz="2400" b="1" spc="225" dirty="0">
                <a:latin typeface="Tahoma"/>
                <a:cs typeface="Tahoma"/>
              </a:rPr>
              <a:t>  </a:t>
            </a:r>
            <a:r>
              <a:rPr sz="2400" b="1" spc="-10" dirty="0">
                <a:latin typeface="Tahoma"/>
                <a:cs typeface="Tahoma"/>
              </a:rPr>
              <a:t>environmental 	</a:t>
            </a:r>
            <a:r>
              <a:rPr sz="2400" b="1" spc="-40" dirty="0">
                <a:latin typeface="Tahoma"/>
                <a:cs typeface="Tahoma"/>
              </a:rPr>
              <a:t>monitoring</a:t>
            </a:r>
            <a:r>
              <a:rPr sz="2400" b="1" spc="-25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system</a:t>
            </a:r>
            <a:r>
              <a:rPr sz="2400" b="1" spc="60" dirty="0">
                <a:latin typeface="Tahoma"/>
                <a:cs typeface="Tahoma"/>
              </a:rPr>
              <a:t> </a:t>
            </a:r>
            <a:r>
              <a:rPr sz="2400" dirty="0">
                <a:latin typeface="Verdana"/>
                <a:cs typeface="Verdana"/>
              </a:rPr>
              <a:t>that</a:t>
            </a:r>
            <a:r>
              <a:rPr sz="2400" spc="-85" dirty="0">
                <a:latin typeface="Verdana"/>
                <a:cs typeface="Verdana"/>
              </a:rPr>
              <a:t> </a:t>
            </a:r>
            <a:r>
              <a:rPr sz="2400" spc="-35" dirty="0">
                <a:latin typeface="Verdana"/>
                <a:cs typeface="Verdana"/>
              </a:rPr>
              <a:t>continuously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-90" dirty="0">
                <a:latin typeface="Verdana"/>
                <a:cs typeface="Verdana"/>
              </a:rPr>
              <a:t>monitors</a:t>
            </a:r>
            <a:r>
              <a:rPr sz="2400" spc="-1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both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water</a:t>
            </a:r>
            <a:r>
              <a:rPr sz="2400" spc="-8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quality 	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-18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air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quality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spc="-70" dirty="0">
                <a:latin typeface="Verdana"/>
                <a:cs typeface="Verdana"/>
              </a:rPr>
              <a:t>using</a:t>
            </a:r>
            <a:r>
              <a:rPr sz="2400" spc="-95" dirty="0">
                <a:latin typeface="Verdana"/>
                <a:cs typeface="Verdana"/>
              </a:rPr>
              <a:t> </a:t>
            </a:r>
            <a:r>
              <a:rPr sz="2400" spc="-60" dirty="0">
                <a:latin typeface="Verdana"/>
                <a:cs typeface="Verdana"/>
              </a:rPr>
              <a:t>multiple</a:t>
            </a:r>
            <a:r>
              <a:rPr sz="2400" spc="-85" dirty="0">
                <a:latin typeface="Verdana"/>
                <a:cs typeface="Verdana"/>
              </a:rPr>
              <a:t> </a:t>
            </a:r>
            <a:r>
              <a:rPr sz="2400" spc="-175" dirty="0">
                <a:latin typeface="Verdana"/>
                <a:cs typeface="Verdana"/>
              </a:rPr>
              <a:t>sensors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90" dirty="0">
                <a:latin typeface="Verdana"/>
                <a:cs typeface="Verdana"/>
              </a:rPr>
              <a:t> </a:t>
            </a:r>
            <a:r>
              <a:rPr sz="2400" spc="-65" dirty="0">
                <a:latin typeface="Verdana"/>
                <a:cs typeface="Verdana"/>
              </a:rPr>
              <a:t>intelligent</a:t>
            </a:r>
            <a:r>
              <a:rPr sz="2400" spc="-1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data</a:t>
            </a:r>
            <a:r>
              <a:rPr sz="2400" spc="10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analysis 	</a:t>
            </a:r>
            <a:r>
              <a:rPr sz="2400" dirty="0">
                <a:latin typeface="Verdana"/>
                <a:cs typeface="Verdana"/>
              </a:rPr>
              <a:t>to</a:t>
            </a:r>
            <a:r>
              <a:rPr sz="2400" spc="-130" dirty="0">
                <a:latin typeface="Verdana"/>
                <a:cs typeface="Verdana"/>
              </a:rPr>
              <a:t> </a:t>
            </a:r>
            <a:r>
              <a:rPr sz="2400" spc="-80" dirty="0">
                <a:latin typeface="Verdana"/>
                <a:cs typeface="Verdana"/>
              </a:rPr>
              <a:t>support</a:t>
            </a:r>
            <a:r>
              <a:rPr sz="2400" spc="-20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75" dirty="0">
                <a:latin typeface="Verdana"/>
                <a:cs typeface="Verdana"/>
              </a:rPr>
              <a:t> </a:t>
            </a:r>
            <a:r>
              <a:rPr sz="2400" spc="-85" dirty="0">
                <a:latin typeface="Verdana"/>
                <a:cs typeface="Verdana"/>
              </a:rPr>
              <a:t>sustainable</a:t>
            </a:r>
            <a:r>
              <a:rPr sz="2400" spc="-254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ecosystem.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4762" y="-4762"/>
            <a:ext cx="281305" cy="2437130"/>
            <a:chOff x="-4762" y="-4762"/>
            <a:chExt cx="281305" cy="24371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34" y="12700"/>
              <a:ext cx="269925" cy="241960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42392" cy="237629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0"/>
              <a:ext cx="242570" cy="2376805"/>
            </a:xfrm>
            <a:custGeom>
              <a:avLst/>
              <a:gdLst/>
              <a:ahLst/>
              <a:cxnLst/>
              <a:rect l="l" t="t" r="r" b="b"/>
              <a:pathLst>
                <a:path w="242570" h="2376805">
                  <a:moveTo>
                    <a:pt x="0" y="2376297"/>
                  </a:moveTo>
                  <a:lnTo>
                    <a:pt x="242392" y="2376297"/>
                  </a:lnTo>
                  <a:lnTo>
                    <a:pt x="242392" y="0"/>
                  </a:lnTo>
                  <a:lnTo>
                    <a:pt x="0" y="0"/>
                  </a:lnTo>
                  <a:lnTo>
                    <a:pt x="0" y="2376297"/>
                  </a:lnTo>
                  <a:close/>
                </a:path>
              </a:pathLst>
            </a:custGeom>
            <a:ln w="9525">
              <a:solidFill>
                <a:srgbClr val="46AA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1149456" y="4473187"/>
            <a:ext cx="285750" cy="2390140"/>
            <a:chOff x="11149456" y="4473187"/>
            <a:chExt cx="285750" cy="239014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49456" y="4473187"/>
              <a:ext cx="280504" cy="238480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87556" y="4481699"/>
              <a:ext cx="242392" cy="237629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1187556" y="4481703"/>
              <a:ext cx="242570" cy="2376805"/>
            </a:xfrm>
            <a:custGeom>
              <a:avLst/>
              <a:gdLst/>
              <a:ahLst/>
              <a:cxnLst/>
              <a:rect l="l" t="t" r="r" b="b"/>
              <a:pathLst>
                <a:path w="242570" h="2376804">
                  <a:moveTo>
                    <a:pt x="0" y="2376297"/>
                  </a:moveTo>
                  <a:lnTo>
                    <a:pt x="242392" y="2376297"/>
                  </a:lnTo>
                  <a:lnTo>
                    <a:pt x="242392" y="0"/>
                  </a:lnTo>
                  <a:lnTo>
                    <a:pt x="0" y="0"/>
                  </a:lnTo>
                  <a:lnTo>
                    <a:pt x="0" y="2376297"/>
                  </a:lnTo>
                  <a:close/>
                </a:path>
              </a:pathLst>
            </a:custGeom>
            <a:ln w="9525">
              <a:solidFill>
                <a:srgbClr val="46AA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0673333" y="6431991"/>
            <a:ext cx="122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68686"/>
                </a:solidFill>
                <a:latin typeface="Verdana"/>
                <a:cs typeface="Verdana"/>
              </a:rPr>
              <a:t>4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27401" y="6535318"/>
            <a:ext cx="5699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006DC0"/>
                </a:solidFill>
                <a:latin typeface="Verdana"/>
                <a:cs typeface="Verdana"/>
              </a:rPr>
              <a:t>Vel</a:t>
            </a:r>
            <a:r>
              <a:rPr sz="1200" spc="-105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006DC0"/>
                </a:solidFill>
                <a:latin typeface="Verdana"/>
                <a:cs typeface="Verdana"/>
              </a:rPr>
              <a:t>Tech</a:t>
            </a:r>
            <a:r>
              <a:rPr sz="1200" spc="-105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6DC0"/>
                </a:solidFill>
                <a:latin typeface="Verdana"/>
                <a:cs typeface="Verdana"/>
              </a:rPr>
              <a:t>Rangarajan</a:t>
            </a:r>
            <a:r>
              <a:rPr sz="1200" spc="7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70" dirty="0">
                <a:solidFill>
                  <a:srgbClr val="006DC0"/>
                </a:solidFill>
                <a:latin typeface="Verdana"/>
                <a:cs typeface="Verdana"/>
              </a:rPr>
              <a:t>Dr.</a:t>
            </a:r>
            <a:r>
              <a:rPr sz="1200" spc="-25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006DC0"/>
                </a:solidFill>
                <a:latin typeface="Verdana"/>
                <a:cs typeface="Verdana"/>
              </a:rPr>
              <a:t>Sagunthala</a:t>
            </a:r>
            <a:r>
              <a:rPr sz="1200" spc="3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45" dirty="0">
                <a:solidFill>
                  <a:srgbClr val="006DC0"/>
                </a:solidFill>
                <a:latin typeface="Verdana"/>
                <a:cs typeface="Verdana"/>
              </a:rPr>
              <a:t>R&amp;D</a:t>
            </a:r>
            <a:r>
              <a:rPr sz="1200" spc="-15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100" dirty="0">
                <a:solidFill>
                  <a:srgbClr val="006DC0"/>
                </a:solidFill>
                <a:latin typeface="Verdana"/>
                <a:cs typeface="Verdana"/>
              </a:rPr>
              <a:t>Institute</a:t>
            </a:r>
            <a:r>
              <a:rPr sz="1200" spc="-12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6DC0"/>
                </a:solidFill>
                <a:latin typeface="Verdana"/>
                <a:cs typeface="Verdana"/>
              </a:rPr>
              <a:t>of</a:t>
            </a:r>
            <a:r>
              <a:rPr sz="1200" spc="-8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006DC0"/>
                </a:solidFill>
                <a:latin typeface="Verdana"/>
                <a:cs typeface="Verdana"/>
              </a:rPr>
              <a:t>Science</a:t>
            </a:r>
            <a:r>
              <a:rPr sz="1200" spc="-7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6DC0"/>
                </a:solidFill>
                <a:latin typeface="Verdana"/>
                <a:cs typeface="Verdana"/>
              </a:rPr>
              <a:t>and</a:t>
            </a:r>
            <a:r>
              <a:rPr sz="1200" spc="-2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6DC0"/>
                </a:solidFill>
                <a:latin typeface="Verdana"/>
                <a:cs typeface="Verdana"/>
              </a:rPr>
              <a:t>Technology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90084" y="436829"/>
            <a:ext cx="24377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Objective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49630" y="1624660"/>
            <a:ext cx="9961880" cy="2891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65" dirty="0">
                <a:latin typeface="Verdana"/>
                <a:cs typeface="Verdana"/>
              </a:rPr>
              <a:t>To</a:t>
            </a:r>
            <a:r>
              <a:rPr sz="2400" spc="-225" dirty="0">
                <a:latin typeface="Verdana"/>
                <a:cs typeface="Verdana"/>
              </a:rPr>
              <a:t> </a:t>
            </a:r>
            <a:r>
              <a:rPr sz="2400" spc="-90" dirty="0">
                <a:latin typeface="Verdana"/>
                <a:cs typeface="Verdana"/>
              </a:rPr>
              <a:t>continuously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95" dirty="0">
                <a:latin typeface="Verdana"/>
                <a:cs typeface="Verdana"/>
              </a:rPr>
              <a:t>monitor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water</a:t>
            </a:r>
            <a:r>
              <a:rPr sz="2400" spc="-114" dirty="0">
                <a:latin typeface="Verdana"/>
                <a:cs typeface="Verdana"/>
              </a:rPr>
              <a:t> </a:t>
            </a:r>
            <a:r>
              <a:rPr sz="2400" spc="-85" dirty="0">
                <a:latin typeface="Verdana"/>
                <a:cs typeface="Verdana"/>
              </a:rPr>
              <a:t>quality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60" dirty="0">
                <a:latin typeface="Verdana"/>
                <a:cs typeface="Verdana"/>
              </a:rPr>
              <a:t>parameters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-65" dirty="0">
                <a:latin typeface="Verdana"/>
                <a:cs typeface="Verdana"/>
              </a:rPr>
              <a:t>in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-35" dirty="0">
                <a:latin typeface="Verdana"/>
                <a:cs typeface="Verdana"/>
              </a:rPr>
              <a:t>real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-70" dirty="0">
                <a:latin typeface="Verdana"/>
                <a:cs typeface="Verdana"/>
              </a:rPr>
              <a:t>time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like</a:t>
            </a:r>
            <a:endParaRPr sz="24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spc="-130" dirty="0">
                <a:latin typeface="Verdana"/>
                <a:cs typeface="Verdana"/>
              </a:rPr>
              <a:t>turbidity,</a:t>
            </a:r>
            <a:r>
              <a:rPr sz="2400" spc="-22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TDS,temperature.</a:t>
            </a:r>
            <a:endParaRPr sz="2400">
              <a:latin typeface="Verdana"/>
              <a:cs typeface="Verdana"/>
            </a:endParaRPr>
          </a:p>
          <a:p>
            <a:pPr marL="355600" marR="5080" indent="-34290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Verdana"/>
                <a:cs typeface="Verdana"/>
              </a:rPr>
              <a:t>To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continuously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monitor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air</a:t>
            </a:r>
            <a:r>
              <a:rPr sz="2400" spc="8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quality</a:t>
            </a:r>
            <a:r>
              <a:rPr sz="2400" spc="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parameters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using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different sensors.</a:t>
            </a:r>
            <a:endParaRPr sz="24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70" dirty="0">
                <a:latin typeface="Verdana"/>
                <a:cs typeface="Verdana"/>
              </a:rPr>
              <a:t>To</a:t>
            </a:r>
            <a:r>
              <a:rPr sz="2400" spc="-380" dirty="0">
                <a:latin typeface="Verdana"/>
                <a:cs typeface="Verdana"/>
              </a:rPr>
              <a:t> </a:t>
            </a:r>
            <a:r>
              <a:rPr sz="2400" spc="-30" dirty="0">
                <a:latin typeface="Verdana"/>
                <a:cs typeface="Verdana"/>
              </a:rPr>
              <a:t>analyze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spc="-130" dirty="0">
                <a:latin typeface="Verdana"/>
                <a:cs typeface="Verdana"/>
              </a:rPr>
              <a:t>sensor</a:t>
            </a:r>
            <a:r>
              <a:rPr sz="2400" spc="-29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data</a:t>
            </a:r>
            <a:r>
              <a:rPr sz="2400" spc="70" dirty="0">
                <a:latin typeface="Verdana"/>
                <a:cs typeface="Verdana"/>
              </a:rPr>
              <a:t> </a:t>
            </a:r>
            <a:r>
              <a:rPr sz="2400" spc="-110" dirty="0">
                <a:latin typeface="Verdana"/>
                <a:cs typeface="Verdana"/>
              </a:rPr>
              <a:t>using</a:t>
            </a:r>
            <a:r>
              <a:rPr sz="2400" spc="-320" dirty="0">
                <a:latin typeface="Verdana"/>
                <a:cs typeface="Verdana"/>
              </a:rPr>
              <a:t> </a:t>
            </a:r>
            <a:r>
              <a:rPr sz="2400" spc="-85" dirty="0">
                <a:latin typeface="Verdana"/>
                <a:cs typeface="Verdana"/>
              </a:rPr>
              <a:t>artificial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intelligence.</a:t>
            </a:r>
            <a:endParaRPr sz="24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70" dirty="0">
                <a:latin typeface="Verdana"/>
                <a:cs typeface="Verdana"/>
              </a:rPr>
              <a:t>To</a:t>
            </a:r>
            <a:r>
              <a:rPr sz="2400" spc="-3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detect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spc="-55" dirty="0">
                <a:latin typeface="Verdana"/>
                <a:cs typeface="Verdana"/>
              </a:rPr>
              <a:t>unsafe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-85" dirty="0">
                <a:latin typeface="Verdana"/>
                <a:cs typeface="Verdana"/>
              </a:rPr>
              <a:t>environmental</a:t>
            </a:r>
            <a:r>
              <a:rPr sz="2400" spc="-254" dirty="0">
                <a:latin typeface="Verdana"/>
                <a:cs typeface="Verdana"/>
              </a:rPr>
              <a:t> </a:t>
            </a:r>
            <a:r>
              <a:rPr sz="2400" spc="-55" dirty="0">
                <a:latin typeface="Verdana"/>
                <a:cs typeface="Verdana"/>
              </a:rPr>
              <a:t>conditions</a:t>
            </a:r>
            <a:r>
              <a:rPr sz="2400" spc="-9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automatically.</a:t>
            </a:r>
            <a:endParaRPr sz="24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85" dirty="0">
                <a:latin typeface="Verdana"/>
                <a:cs typeface="Verdana"/>
              </a:rPr>
              <a:t>To</a:t>
            </a:r>
            <a:r>
              <a:rPr sz="2400" spc="-39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promote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-85" dirty="0">
                <a:latin typeface="Verdana"/>
                <a:cs typeface="Verdana"/>
              </a:rPr>
              <a:t>environmental</a:t>
            </a:r>
            <a:r>
              <a:rPr sz="2400" spc="-254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protection</a:t>
            </a:r>
            <a:r>
              <a:rPr sz="2400" spc="-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sustainability.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4762" y="-4762"/>
            <a:ext cx="281305" cy="2437130"/>
            <a:chOff x="-4762" y="-4762"/>
            <a:chExt cx="281305" cy="24371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34" y="12700"/>
              <a:ext cx="269925" cy="241960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42392" cy="237629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0"/>
              <a:ext cx="242570" cy="2376805"/>
            </a:xfrm>
            <a:custGeom>
              <a:avLst/>
              <a:gdLst/>
              <a:ahLst/>
              <a:cxnLst/>
              <a:rect l="l" t="t" r="r" b="b"/>
              <a:pathLst>
                <a:path w="242570" h="2376805">
                  <a:moveTo>
                    <a:pt x="0" y="2376297"/>
                  </a:moveTo>
                  <a:lnTo>
                    <a:pt x="242392" y="2376297"/>
                  </a:lnTo>
                  <a:lnTo>
                    <a:pt x="242392" y="0"/>
                  </a:lnTo>
                  <a:lnTo>
                    <a:pt x="0" y="0"/>
                  </a:lnTo>
                  <a:lnTo>
                    <a:pt x="0" y="2376297"/>
                  </a:lnTo>
                  <a:close/>
                </a:path>
              </a:pathLst>
            </a:custGeom>
            <a:ln w="9525">
              <a:solidFill>
                <a:srgbClr val="46AA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1149456" y="4473187"/>
            <a:ext cx="285750" cy="2390140"/>
            <a:chOff x="11149456" y="4473187"/>
            <a:chExt cx="285750" cy="239014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49456" y="4473187"/>
              <a:ext cx="280504" cy="238480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87556" y="4481699"/>
              <a:ext cx="242392" cy="237629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1187556" y="4481703"/>
              <a:ext cx="242570" cy="2376805"/>
            </a:xfrm>
            <a:custGeom>
              <a:avLst/>
              <a:gdLst/>
              <a:ahLst/>
              <a:cxnLst/>
              <a:rect l="l" t="t" r="r" b="b"/>
              <a:pathLst>
                <a:path w="242570" h="2376804">
                  <a:moveTo>
                    <a:pt x="0" y="2376297"/>
                  </a:moveTo>
                  <a:lnTo>
                    <a:pt x="242392" y="2376297"/>
                  </a:lnTo>
                  <a:lnTo>
                    <a:pt x="242392" y="0"/>
                  </a:lnTo>
                  <a:lnTo>
                    <a:pt x="0" y="0"/>
                  </a:lnTo>
                  <a:lnTo>
                    <a:pt x="0" y="2376297"/>
                  </a:lnTo>
                  <a:close/>
                </a:path>
              </a:pathLst>
            </a:custGeom>
            <a:ln w="9525">
              <a:solidFill>
                <a:srgbClr val="46AA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0673333" y="6431991"/>
            <a:ext cx="122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68686"/>
                </a:solidFill>
                <a:latin typeface="Verdana"/>
                <a:cs typeface="Verdana"/>
              </a:rPr>
              <a:t>5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27401" y="6535318"/>
            <a:ext cx="5699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006DC0"/>
                </a:solidFill>
                <a:latin typeface="Verdana"/>
                <a:cs typeface="Verdana"/>
              </a:rPr>
              <a:t>Vel</a:t>
            </a:r>
            <a:r>
              <a:rPr sz="1200" spc="-105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006DC0"/>
                </a:solidFill>
                <a:latin typeface="Verdana"/>
                <a:cs typeface="Verdana"/>
              </a:rPr>
              <a:t>Tech</a:t>
            </a:r>
            <a:r>
              <a:rPr sz="1200" spc="-105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6DC0"/>
                </a:solidFill>
                <a:latin typeface="Verdana"/>
                <a:cs typeface="Verdana"/>
              </a:rPr>
              <a:t>Rangarajan</a:t>
            </a:r>
            <a:r>
              <a:rPr sz="1200" spc="7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70" dirty="0">
                <a:solidFill>
                  <a:srgbClr val="006DC0"/>
                </a:solidFill>
                <a:latin typeface="Verdana"/>
                <a:cs typeface="Verdana"/>
              </a:rPr>
              <a:t>Dr.</a:t>
            </a:r>
            <a:r>
              <a:rPr sz="1200" spc="-25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006DC0"/>
                </a:solidFill>
                <a:latin typeface="Verdana"/>
                <a:cs typeface="Verdana"/>
              </a:rPr>
              <a:t>Sagunthala</a:t>
            </a:r>
            <a:r>
              <a:rPr sz="1200" spc="3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45" dirty="0">
                <a:solidFill>
                  <a:srgbClr val="006DC0"/>
                </a:solidFill>
                <a:latin typeface="Verdana"/>
                <a:cs typeface="Verdana"/>
              </a:rPr>
              <a:t>R&amp;D</a:t>
            </a:r>
            <a:r>
              <a:rPr sz="1200" spc="-15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100" dirty="0">
                <a:solidFill>
                  <a:srgbClr val="006DC0"/>
                </a:solidFill>
                <a:latin typeface="Verdana"/>
                <a:cs typeface="Verdana"/>
              </a:rPr>
              <a:t>Institute</a:t>
            </a:r>
            <a:r>
              <a:rPr sz="1200" spc="-12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6DC0"/>
                </a:solidFill>
                <a:latin typeface="Verdana"/>
                <a:cs typeface="Verdana"/>
              </a:rPr>
              <a:t>of</a:t>
            </a:r>
            <a:r>
              <a:rPr sz="1200" spc="-8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006DC0"/>
                </a:solidFill>
                <a:latin typeface="Verdana"/>
                <a:cs typeface="Verdana"/>
              </a:rPr>
              <a:t>Science</a:t>
            </a:r>
            <a:r>
              <a:rPr sz="1200" spc="-7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6DC0"/>
                </a:solidFill>
                <a:latin typeface="Verdana"/>
                <a:cs typeface="Verdana"/>
              </a:rPr>
              <a:t>and</a:t>
            </a:r>
            <a:r>
              <a:rPr sz="1200" spc="-2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6DC0"/>
                </a:solidFill>
                <a:latin typeface="Verdana"/>
                <a:cs typeface="Verdana"/>
              </a:rPr>
              <a:t>Technology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72953" y="6431991"/>
            <a:ext cx="122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68686"/>
                </a:solidFill>
                <a:latin typeface="Verdana"/>
                <a:cs typeface="Verdana"/>
              </a:rPr>
              <a:t>6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281305" cy="2437130"/>
            <a:chOff x="-4762" y="-4762"/>
            <a:chExt cx="281305" cy="24371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34" y="12700"/>
              <a:ext cx="269925" cy="241960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42392" cy="237629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242570" cy="2376805"/>
            </a:xfrm>
            <a:custGeom>
              <a:avLst/>
              <a:gdLst/>
              <a:ahLst/>
              <a:cxnLst/>
              <a:rect l="l" t="t" r="r" b="b"/>
              <a:pathLst>
                <a:path w="242570" h="2376805">
                  <a:moveTo>
                    <a:pt x="0" y="2376297"/>
                  </a:moveTo>
                  <a:lnTo>
                    <a:pt x="242392" y="2376297"/>
                  </a:lnTo>
                  <a:lnTo>
                    <a:pt x="242392" y="0"/>
                  </a:lnTo>
                  <a:lnTo>
                    <a:pt x="0" y="0"/>
                  </a:lnTo>
                  <a:lnTo>
                    <a:pt x="0" y="2376297"/>
                  </a:lnTo>
                  <a:close/>
                </a:path>
              </a:pathLst>
            </a:custGeom>
            <a:ln w="9525">
              <a:solidFill>
                <a:srgbClr val="46AA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1149456" y="4473187"/>
            <a:ext cx="285750" cy="2390140"/>
            <a:chOff x="11149456" y="4473187"/>
            <a:chExt cx="285750" cy="239014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49456" y="4473187"/>
              <a:ext cx="280504" cy="238480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87556" y="4481699"/>
              <a:ext cx="242392" cy="237629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187556" y="4481703"/>
              <a:ext cx="242570" cy="2376805"/>
            </a:xfrm>
            <a:custGeom>
              <a:avLst/>
              <a:gdLst/>
              <a:ahLst/>
              <a:cxnLst/>
              <a:rect l="l" t="t" r="r" b="b"/>
              <a:pathLst>
                <a:path w="242570" h="2376804">
                  <a:moveTo>
                    <a:pt x="0" y="2376297"/>
                  </a:moveTo>
                  <a:lnTo>
                    <a:pt x="242392" y="2376297"/>
                  </a:lnTo>
                  <a:lnTo>
                    <a:pt x="242392" y="0"/>
                  </a:lnTo>
                  <a:lnTo>
                    <a:pt x="0" y="0"/>
                  </a:lnTo>
                  <a:lnTo>
                    <a:pt x="0" y="2376297"/>
                  </a:lnTo>
                  <a:close/>
                </a:path>
              </a:pathLst>
            </a:custGeom>
            <a:ln w="9525">
              <a:solidFill>
                <a:srgbClr val="46AA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1029855" y="215900"/>
          <a:ext cx="9445624" cy="65316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2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8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2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08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481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35877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Sl</a:t>
                      </a:r>
                      <a:r>
                        <a:rPr sz="14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No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B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B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B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Journal</a:t>
                      </a:r>
                      <a:r>
                        <a:rPr sz="1400" b="1" spc="-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name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B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B"/>
                    </a:solidFill>
                  </a:tcPr>
                </a:tc>
                <a:tc>
                  <a:txBody>
                    <a:bodyPr/>
                    <a:lstStyle/>
                    <a:p>
                      <a:pPr marL="6134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Inference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285">
                <a:tc>
                  <a:txBody>
                    <a:bodyPr/>
                    <a:lstStyle/>
                    <a:p>
                      <a:pPr marR="37211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324485" marR="110489" indent="-21526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400" spc="-90" dirty="0">
                          <a:latin typeface="Verdana"/>
                          <a:cs typeface="Verdana"/>
                        </a:rPr>
                        <a:t>S.Kumar,</a:t>
                      </a:r>
                      <a:r>
                        <a:rPr sz="1400" spc="-2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25" dirty="0">
                          <a:latin typeface="Verdana"/>
                          <a:cs typeface="Verdana"/>
                        </a:rPr>
                        <a:t>A. </a:t>
                      </a:r>
                      <a:r>
                        <a:rPr sz="1400" spc="-10" dirty="0">
                          <a:latin typeface="Verdana"/>
                          <a:cs typeface="Verdana"/>
                        </a:rPr>
                        <a:t>Jasuja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8351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400" spc="-50" dirty="0">
                          <a:latin typeface="Verdana"/>
                          <a:cs typeface="Verdana"/>
                        </a:rPr>
                        <a:t>Air</a:t>
                      </a:r>
                      <a:r>
                        <a:rPr sz="1400" spc="-2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0" dirty="0">
                          <a:latin typeface="Verdana"/>
                          <a:cs typeface="Verdana"/>
                        </a:rPr>
                        <a:t>quality</a:t>
                      </a:r>
                      <a:r>
                        <a:rPr sz="1400" spc="-2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latin typeface="Verdana"/>
                          <a:cs typeface="Verdana"/>
                        </a:rPr>
                        <a:t>monitoring </a:t>
                      </a:r>
                      <a:r>
                        <a:rPr sz="1400" spc="-100" dirty="0">
                          <a:latin typeface="Verdana"/>
                          <a:cs typeface="Verdana"/>
                        </a:rPr>
                        <a:t>system</a:t>
                      </a:r>
                      <a:r>
                        <a:rPr sz="1400" spc="-3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based</a:t>
                      </a:r>
                      <a:r>
                        <a:rPr sz="1400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on</a:t>
                      </a:r>
                      <a:r>
                        <a:rPr sz="14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IoT</a:t>
                      </a:r>
                      <a:r>
                        <a:rPr sz="1400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35" dirty="0">
                          <a:latin typeface="Verdana"/>
                          <a:cs typeface="Verdana"/>
                        </a:rPr>
                        <a:t>using </a:t>
                      </a:r>
                      <a:r>
                        <a:rPr sz="1400" spc="-90" dirty="0">
                          <a:latin typeface="Verdana"/>
                          <a:cs typeface="Verdana"/>
                        </a:rPr>
                        <a:t>Raspberry</a:t>
                      </a:r>
                      <a:r>
                        <a:rPr sz="14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25" dirty="0">
                          <a:latin typeface="Verdana"/>
                          <a:cs typeface="Verdana"/>
                        </a:rPr>
                        <a:t>Pi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IEEE</a:t>
                      </a:r>
                      <a:r>
                        <a:rPr sz="14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latin typeface="Verdana"/>
                          <a:cs typeface="Verdana"/>
                        </a:rPr>
                        <a:t>ICCCA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400" spc="-20" dirty="0">
                          <a:latin typeface="Verdana"/>
                          <a:cs typeface="Verdana"/>
                        </a:rPr>
                        <a:t>2017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243204" marR="219710" indent="2286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400" spc="-25" dirty="0">
                          <a:latin typeface="Verdana"/>
                          <a:cs typeface="Verdana"/>
                        </a:rPr>
                        <a:t>Developed</a:t>
                      </a:r>
                      <a:r>
                        <a:rPr sz="14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20" dirty="0">
                          <a:latin typeface="Verdana"/>
                          <a:cs typeface="Verdana"/>
                        </a:rPr>
                        <a:t>IoT-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based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35" dirty="0">
                          <a:latin typeface="Verdana"/>
                          <a:cs typeface="Verdana"/>
                        </a:rPr>
                        <a:t>air</a:t>
                      </a:r>
                      <a:r>
                        <a:rPr sz="1400" spc="-20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latin typeface="Verdana"/>
                          <a:cs typeface="Verdana"/>
                        </a:rPr>
                        <a:t>quality </a:t>
                      </a:r>
                      <a:r>
                        <a:rPr sz="1400" spc="-20" dirty="0">
                          <a:latin typeface="Verdana"/>
                          <a:cs typeface="Verdana"/>
                        </a:rPr>
                        <a:t>monitoring</a:t>
                      </a:r>
                      <a:r>
                        <a:rPr sz="14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20" dirty="0">
                          <a:latin typeface="Verdana"/>
                          <a:cs typeface="Verdana"/>
                        </a:rPr>
                        <a:t>using </a:t>
                      </a:r>
                      <a:r>
                        <a:rPr sz="1400" spc="-90" dirty="0">
                          <a:latin typeface="Verdana"/>
                          <a:cs typeface="Verdana"/>
                        </a:rPr>
                        <a:t>Raspberry</a:t>
                      </a:r>
                      <a:r>
                        <a:rPr sz="14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25" dirty="0">
                          <a:latin typeface="Verdana"/>
                          <a:cs typeface="Verdana"/>
                        </a:rPr>
                        <a:t>Pi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9595">
                <a:tc>
                  <a:txBody>
                    <a:bodyPr/>
                    <a:lstStyle/>
                    <a:p>
                      <a:pPr marR="372110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marL="495300" marR="132715" indent="-35369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spc="-40" dirty="0">
                          <a:latin typeface="Verdana"/>
                          <a:cs typeface="Verdana"/>
                        </a:rPr>
                        <a:t>P.</a:t>
                      </a:r>
                      <a:r>
                        <a:rPr sz="1400" spc="-2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80" dirty="0">
                          <a:latin typeface="Verdana"/>
                          <a:cs typeface="Verdana"/>
                        </a:rPr>
                        <a:t>Sureshet </a:t>
                      </a:r>
                      <a:r>
                        <a:rPr sz="1400" spc="-25" dirty="0">
                          <a:latin typeface="Verdana"/>
                          <a:cs typeface="Verdana"/>
                        </a:rPr>
                        <a:t>al.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9273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spc="-95" dirty="0">
                          <a:latin typeface="Verdana"/>
                          <a:cs typeface="Verdana"/>
                        </a:rPr>
                        <a:t>Real-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time</a:t>
                      </a:r>
                      <a:r>
                        <a:rPr sz="1400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latin typeface="Verdana"/>
                          <a:cs typeface="Verdana"/>
                        </a:rPr>
                        <a:t>environmental </a:t>
                      </a:r>
                      <a:r>
                        <a:rPr sz="1400" spc="-70" dirty="0">
                          <a:latin typeface="Verdana"/>
                          <a:cs typeface="Verdana"/>
                        </a:rPr>
                        <a:t>monitoring</a:t>
                      </a:r>
                      <a:r>
                        <a:rPr sz="1400" spc="-11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latin typeface="Verdana"/>
                          <a:cs typeface="Verdana"/>
                        </a:rPr>
                        <a:t>systemusing </a:t>
                      </a:r>
                      <a:r>
                        <a:rPr sz="1400" spc="-20" dirty="0">
                          <a:latin typeface="Verdana"/>
                          <a:cs typeface="Verdana"/>
                        </a:rPr>
                        <a:t>cloud</a:t>
                      </a:r>
                      <a:r>
                        <a:rPr sz="14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latin typeface="Verdana"/>
                          <a:cs typeface="Verdana"/>
                        </a:rPr>
                        <a:t>computing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marL="107314" marR="95250" indent="-254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International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conference on computer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science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mobile charging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spc="-20" dirty="0">
                          <a:latin typeface="Verdana"/>
                          <a:cs typeface="Verdana"/>
                        </a:rPr>
                        <a:t>2014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marL="112395" marR="87630" indent="-1905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spc="-10" dirty="0">
                          <a:latin typeface="Verdana"/>
                          <a:cs typeface="Verdana"/>
                        </a:rPr>
                        <a:t>Cloud</a:t>
                      </a:r>
                      <a:r>
                        <a:rPr sz="14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latin typeface="Verdana"/>
                          <a:cs typeface="Verdana"/>
                        </a:rPr>
                        <a:t>integration improves</a:t>
                      </a:r>
                      <a:r>
                        <a:rPr sz="14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latin typeface="Verdana"/>
                          <a:cs typeface="Verdana"/>
                        </a:rPr>
                        <a:t>scalability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and</a:t>
                      </a:r>
                      <a:r>
                        <a:rPr sz="1400" spc="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latin typeface="Verdana"/>
                          <a:cs typeface="Verdana"/>
                        </a:rPr>
                        <a:t>remote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8240">
                <a:tc>
                  <a:txBody>
                    <a:bodyPr/>
                    <a:lstStyle/>
                    <a:p>
                      <a:pPr marR="37211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21018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spc="-35" dirty="0">
                          <a:latin typeface="Verdana"/>
                          <a:cs typeface="Verdana"/>
                        </a:rPr>
                        <a:t>J.</a:t>
                      </a:r>
                      <a:r>
                        <a:rPr sz="1400" spc="-1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5" dirty="0">
                          <a:latin typeface="Verdana"/>
                          <a:cs typeface="Verdana"/>
                        </a:rPr>
                        <a:t>Yick,</a:t>
                      </a:r>
                      <a:r>
                        <a:rPr sz="1400" spc="-2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35" dirty="0">
                          <a:latin typeface="Verdana"/>
                          <a:cs typeface="Verdana"/>
                        </a:rPr>
                        <a:t>B.</a:t>
                      </a:r>
                      <a:endParaRPr sz="1400">
                        <a:latin typeface="Verdana"/>
                        <a:cs typeface="Verdana"/>
                      </a:endParaRPr>
                    </a:p>
                    <a:p>
                      <a:pPr marL="137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10" dirty="0">
                          <a:latin typeface="Verdana"/>
                          <a:cs typeface="Verdana"/>
                        </a:rPr>
                        <a:t>Mukherjee,</a:t>
                      </a:r>
                      <a:endParaRPr sz="1400">
                        <a:latin typeface="Verdana"/>
                        <a:cs typeface="Verdana"/>
                      </a:endParaRPr>
                    </a:p>
                    <a:p>
                      <a:pPr marL="182880">
                        <a:lnSpc>
                          <a:spcPct val="100000"/>
                        </a:lnSpc>
                      </a:pPr>
                      <a:r>
                        <a:rPr sz="1400" spc="-40" dirty="0">
                          <a:latin typeface="Verdana"/>
                          <a:cs typeface="Verdana"/>
                        </a:rPr>
                        <a:t>D.</a:t>
                      </a:r>
                      <a:r>
                        <a:rPr sz="1400" spc="-2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latin typeface="Verdana"/>
                          <a:cs typeface="Verdana"/>
                        </a:rPr>
                        <a:t>Ghosal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spc="-110" dirty="0">
                          <a:latin typeface="Verdana"/>
                          <a:cs typeface="Verdana"/>
                        </a:rPr>
                        <a:t>Wireless</a:t>
                      </a:r>
                      <a:r>
                        <a:rPr sz="1400" spc="-25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latin typeface="Verdana"/>
                          <a:cs typeface="Verdana"/>
                        </a:rPr>
                        <a:t>sensor</a:t>
                      </a:r>
                      <a:endParaRPr sz="1400">
                        <a:latin typeface="Verdana"/>
                        <a:cs typeface="Verdana"/>
                      </a:endParaRPr>
                    </a:p>
                    <a:p>
                      <a:pPr marL="1828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65" dirty="0">
                          <a:latin typeface="Verdana"/>
                          <a:cs typeface="Verdana"/>
                        </a:rPr>
                        <a:t>network</a:t>
                      </a:r>
                      <a:r>
                        <a:rPr sz="1400" spc="-1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latin typeface="Verdana"/>
                          <a:cs typeface="Verdana"/>
                        </a:rPr>
                        <a:t>survey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Computer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networks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2008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187325">
                        <a:lnSpc>
                          <a:spcPts val="1670"/>
                        </a:lnSpc>
                        <a:spcBef>
                          <a:spcPts val="350"/>
                        </a:spcBef>
                      </a:pPr>
                      <a:r>
                        <a:rPr sz="1400" spc="-20" dirty="0">
                          <a:latin typeface="Verdana"/>
                          <a:cs typeface="Verdana"/>
                        </a:rPr>
                        <a:t>WSNs</a:t>
                      </a:r>
                      <a:endParaRPr sz="1400">
                        <a:latin typeface="Verdana"/>
                        <a:cs typeface="Verdana"/>
                      </a:endParaRPr>
                    </a:p>
                    <a:p>
                      <a:pPr marL="187325" marR="520065">
                        <a:lnSpc>
                          <a:spcPts val="1670"/>
                        </a:lnSpc>
                        <a:spcBef>
                          <a:spcPts val="55"/>
                        </a:spcBef>
                      </a:pPr>
                      <a:r>
                        <a:rPr sz="1400" spc="-35" dirty="0">
                          <a:latin typeface="Verdana"/>
                          <a:cs typeface="Verdana"/>
                        </a:rPr>
                        <a:t>provide</a:t>
                      </a:r>
                      <a:r>
                        <a:rPr sz="1400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25" dirty="0">
                          <a:latin typeface="Verdana"/>
                          <a:cs typeface="Verdana"/>
                        </a:rPr>
                        <a:t>the </a:t>
                      </a:r>
                      <a:r>
                        <a:rPr sz="1400" spc="-20" dirty="0">
                          <a:latin typeface="Verdana"/>
                          <a:cs typeface="Verdana"/>
                        </a:rPr>
                        <a:t>foundation</a:t>
                      </a:r>
                      <a:r>
                        <a:rPr sz="14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25" dirty="0">
                          <a:latin typeface="Verdana"/>
                          <a:cs typeface="Verdana"/>
                        </a:rPr>
                        <a:t>for </a:t>
                      </a:r>
                      <a:r>
                        <a:rPr sz="1400" spc="-10" dirty="0">
                          <a:latin typeface="Verdana"/>
                          <a:cs typeface="Verdana"/>
                        </a:rPr>
                        <a:t>distributed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70330">
                <a:tc>
                  <a:txBody>
                    <a:bodyPr/>
                    <a:lstStyle/>
                    <a:p>
                      <a:pPr marR="37211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marL="141605" marR="108585" indent="25400">
                        <a:lnSpc>
                          <a:spcPct val="101400"/>
                        </a:lnSpc>
                        <a:spcBef>
                          <a:spcPts val="215"/>
                        </a:spcBef>
                      </a:pPr>
                      <a:r>
                        <a:rPr sz="1400" spc="-10" dirty="0">
                          <a:latin typeface="Verdana"/>
                          <a:cs typeface="Verdana"/>
                        </a:rPr>
                        <a:t>M.</a:t>
                      </a:r>
                      <a:r>
                        <a:rPr sz="14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latin typeface="Verdana"/>
                          <a:cs typeface="Verdana"/>
                        </a:rPr>
                        <a:t>Aazam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and</a:t>
                      </a:r>
                      <a:r>
                        <a:rPr sz="1400" spc="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5" dirty="0">
                          <a:latin typeface="Verdana"/>
                          <a:cs typeface="Verdana"/>
                        </a:rPr>
                        <a:t>E.</a:t>
                      </a:r>
                      <a:r>
                        <a:rPr sz="1400" spc="-2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25" dirty="0">
                          <a:latin typeface="Verdana"/>
                          <a:cs typeface="Verdana"/>
                        </a:rPr>
                        <a:t>Huh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marL="104139" marR="17589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Fog</a:t>
                      </a:r>
                      <a:r>
                        <a:rPr sz="14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computing</a:t>
                      </a:r>
                      <a:r>
                        <a:rPr sz="14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and</a:t>
                      </a:r>
                      <a:r>
                        <a:rPr sz="14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60" dirty="0">
                          <a:latin typeface="Verdana"/>
                          <a:cs typeface="Verdana"/>
                        </a:rPr>
                        <a:t>smart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gateway</a:t>
                      </a:r>
                      <a:r>
                        <a:rPr sz="1400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20" dirty="0">
                          <a:latin typeface="Verdana"/>
                          <a:cs typeface="Verdana"/>
                        </a:rPr>
                        <a:t>based </a:t>
                      </a:r>
                      <a:r>
                        <a:rPr sz="1400" spc="-10" dirty="0">
                          <a:latin typeface="Verdana"/>
                          <a:cs typeface="Verdana"/>
                        </a:rPr>
                        <a:t>communication</a:t>
                      </a:r>
                      <a:r>
                        <a:rPr sz="14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0" dirty="0">
                          <a:latin typeface="Verdana"/>
                          <a:cs typeface="Verdana"/>
                        </a:rPr>
                        <a:t>.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IEEE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FiCloud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2014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marL="147320" marR="128270" indent="127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Fog</a:t>
                      </a:r>
                      <a:r>
                        <a:rPr sz="14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computing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reduces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latency</a:t>
                      </a:r>
                      <a:r>
                        <a:rPr sz="1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improves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real-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1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performance.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80486" y="194513"/>
            <a:ext cx="44545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METHODOLOGY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9700" y="906602"/>
            <a:ext cx="10873105" cy="5026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354965" algn="l"/>
              </a:tabLst>
            </a:pPr>
            <a:r>
              <a:rPr sz="2000" b="1" dirty="0">
                <a:latin typeface="Arial"/>
                <a:cs typeface="Arial"/>
              </a:rPr>
              <a:t>DATA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ACQUISITION</a:t>
            </a:r>
            <a:endParaRPr sz="2000">
              <a:latin typeface="Arial"/>
              <a:cs typeface="Arial"/>
            </a:endParaRPr>
          </a:p>
          <a:p>
            <a:pPr marL="12700" marR="5715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Environmental</a:t>
            </a:r>
            <a:r>
              <a:rPr sz="2000" spc="1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parameters</a:t>
            </a:r>
            <a:r>
              <a:rPr sz="2000" spc="1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such</a:t>
            </a:r>
            <a:r>
              <a:rPr sz="2000" spc="1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2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Air</a:t>
            </a:r>
            <a:r>
              <a:rPr sz="2000" spc="1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Quality</a:t>
            </a:r>
            <a:r>
              <a:rPr sz="2000" spc="1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Index</a:t>
            </a:r>
            <a:r>
              <a:rPr sz="2000" spc="1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(AQI),</a:t>
            </a:r>
            <a:r>
              <a:rPr sz="2000" spc="1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Total</a:t>
            </a:r>
            <a:r>
              <a:rPr sz="2000" spc="1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Dissolved</a:t>
            </a:r>
            <a:r>
              <a:rPr sz="2000" spc="2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Solids</a:t>
            </a:r>
            <a:r>
              <a:rPr sz="2000" spc="1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(TDS),</a:t>
            </a:r>
            <a:r>
              <a:rPr sz="2000" spc="18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and </a:t>
            </a:r>
            <a:r>
              <a:rPr sz="2000" dirty="0">
                <a:latin typeface="Arial MT"/>
                <a:cs typeface="Arial MT"/>
              </a:rPr>
              <a:t>turbidity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measured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using</a:t>
            </a:r>
            <a:r>
              <a:rPr sz="2000" spc="-10" dirty="0">
                <a:latin typeface="Arial MT"/>
                <a:cs typeface="Arial MT"/>
              </a:rPr>
              <a:t> IoT-</a:t>
            </a:r>
            <a:r>
              <a:rPr sz="2000" dirty="0">
                <a:latin typeface="Arial MT"/>
                <a:cs typeface="Arial MT"/>
              </a:rPr>
              <a:t>based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sensors</a:t>
            </a:r>
            <a:r>
              <a:rPr sz="2400" spc="-10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sz="2000" b="1" dirty="0">
                <a:latin typeface="Arial"/>
                <a:cs typeface="Arial"/>
              </a:rPr>
              <a:t>DATA</a:t>
            </a:r>
            <a:r>
              <a:rPr sz="2000" b="1" spc="-7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TRANSMISSION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collected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sent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real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time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microcontroller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initial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processing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handling.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sz="2000" b="1" dirty="0">
                <a:latin typeface="Arial"/>
                <a:cs typeface="Arial"/>
              </a:rPr>
              <a:t>LOCAL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AI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PROCESSING</a:t>
            </a:r>
            <a:endParaRPr sz="2000">
              <a:latin typeface="Arial"/>
              <a:cs typeface="Arial"/>
            </a:endParaRPr>
          </a:p>
          <a:p>
            <a:pPr marL="12700" marR="5715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analyzed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using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locally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hosted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AI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server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detect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patterns,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anomalies,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potential </a:t>
            </a:r>
            <a:r>
              <a:rPr sz="2000" dirty="0">
                <a:latin typeface="Arial MT"/>
                <a:cs typeface="Arial MT"/>
              </a:rPr>
              <a:t>environmental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risks</a:t>
            </a:r>
            <a:r>
              <a:rPr sz="2400" spc="-10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sz="2000" b="1" dirty="0">
                <a:latin typeface="Arial"/>
                <a:cs typeface="Arial"/>
              </a:rPr>
              <a:t>DECISION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AND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ALERT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SYSTEM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3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system</a:t>
            </a:r>
            <a:r>
              <a:rPr sz="2000" spc="3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generates</a:t>
            </a:r>
            <a:r>
              <a:rPr sz="2000" spc="3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real-</a:t>
            </a:r>
            <a:r>
              <a:rPr sz="2000" dirty="0">
                <a:latin typeface="Arial MT"/>
                <a:cs typeface="Arial MT"/>
              </a:rPr>
              <a:t>time</a:t>
            </a:r>
            <a:r>
              <a:rPr sz="2000" spc="3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alerts</a:t>
            </a:r>
            <a:r>
              <a:rPr sz="2000" spc="3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based</a:t>
            </a:r>
            <a:r>
              <a:rPr sz="2000" spc="3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3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predefined</a:t>
            </a:r>
            <a:r>
              <a:rPr sz="2000" spc="3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thresholds</a:t>
            </a:r>
            <a:r>
              <a:rPr sz="2000" spc="3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3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AI</a:t>
            </a:r>
            <a:r>
              <a:rPr sz="2000" spc="3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predictions</a:t>
            </a:r>
            <a:r>
              <a:rPr sz="2000" spc="36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to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warn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users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unsafe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conditions.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sz="2000" b="1" dirty="0">
                <a:latin typeface="Arial"/>
                <a:cs typeface="Arial"/>
              </a:rPr>
              <a:t>DATA</a:t>
            </a:r>
            <a:r>
              <a:rPr sz="2000" b="1" spc="-7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VISUALIZATION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processed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displayed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dashboard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interface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continuous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monitoring.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sz="2000" b="1" dirty="0">
                <a:latin typeface="Arial"/>
                <a:cs typeface="Arial"/>
              </a:rPr>
              <a:t>SYSTEM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DEPLOYMENT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4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system</a:t>
            </a:r>
            <a:r>
              <a:rPr sz="2000" spc="4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4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designed</a:t>
            </a:r>
            <a:r>
              <a:rPr sz="2000" spc="4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4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42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low-</a:t>
            </a:r>
            <a:r>
              <a:rPr sz="2000" dirty="0">
                <a:latin typeface="Arial MT"/>
                <a:cs typeface="Arial MT"/>
              </a:rPr>
              <a:t>cost</a:t>
            </a:r>
            <a:r>
              <a:rPr sz="2000" spc="409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409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scalable,</a:t>
            </a:r>
            <a:r>
              <a:rPr sz="2000" spc="409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allowing</a:t>
            </a:r>
            <a:r>
              <a:rPr sz="2000" spc="4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implementation</a:t>
            </a:r>
            <a:r>
              <a:rPr sz="2000" spc="4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4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industries,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smart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cities,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agricultural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areas.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6691" y="194513"/>
            <a:ext cx="81946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Implementation</a:t>
            </a:r>
            <a:r>
              <a:rPr sz="3200" spc="-65" dirty="0"/>
              <a:t> </a:t>
            </a:r>
            <a:r>
              <a:rPr sz="3200" dirty="0"/>
              <a:t>Details</a:t>
            </a:r>
            <a:r>
              <a:rPr sz="3200" spc="-55" dirty="0"/>
              <a:t> </a:t>
            </a:r>
            <a:r>
              <a:rPr sz="3200" dirty="0"/>
              <a:t>and</a:t>
            </a:r>
            <a:r>
              <a:rPr sz="3200" spc="-35" dirty="0"/>
              <a:t> </a:t>
            </a:r>
            <a:r>
              <a:rPr sz="3200" spc="-10" dirty="0"/>
              <a:t>Description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139700" y="906602"/>
            <a:ext cx="10875645" cy="55143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354965" algn="l"/>
              </a:tabLst>
            </a:pPr>
            <a:r>
              <a:rPr sz="2000" b="1" dirty="0">
                <a:latin typeface="Arial"/>
                <a:cs typeface="Arial"/>
              </a:rPr>
              <a:t>HARDWARE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IMPLEMENTATION</a:t>
            </a:r>
            <a:endParaRPr sz="2000">
              <a:latin typeface="Arial"/>
              <a:cs typeface="Arial"/>
            </a:endParaRPr>
          </a:p>
          <a:p>
            <a:pPr marL="12700" marR="762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IoT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sensors</a:t>
            </a:r>
            <a:r>
              <a:rPr sz="2000" spc="1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(AQI,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TDS,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turbidity)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1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interfaced</a:t>
            </a:r>
            <a:r>
              <a:rPr sz="2000" spc="1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1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1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microcontroller</a:t>
            </a:r>
            <a:r>
              <a:rPr sz="2000" spc="1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(e.g.,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ESP32/Arduino)</a:t>
            </a:r>
            <a:r>
              <a:rPr sz="2000" spc="13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to </a:t>
            </a:r>
            <a:r>
              <a:rPr sz="2000" dirty="0">
                <a:latin typeface="Arial MT"/>
                <a:cs typeface="Arial MT"/>
              </a:rPr>
              <a:t>collect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real-</a:t>
            </a:r>
            <a:r>
              <a:rPr sz="2000" dirty="0">
                <a:latin typeface="Arial MT"/>
                <a:cs typeface="Arial MT"/>
              </a:rPr>
              <a:t>time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environmental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data.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sz="2000" b="1" dirty="0">
                <a:latin typeface="Arial"/>
                <a:cs typeface="Arial"/>
              </a:rPr>
              <a:t>DATA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ACQUISITION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AND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spc="-20" dirty="0">
                <a:latin typeface="Arial"/>
                <a:cs typeface="Arial"/>
              </a:rPr>
              <a:t>PRE-</a:t>
            </a:r>
            <a:r>
              <a:rPr sz="2000" b="1" spc="-10" dirty="0">
                <a:latin typeface="Arial"/>
                <a:cs typeface="Arial"/>
              </a:rPr>
              <a:t>PROCESSING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3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microcontroller</a:t>
            </a:r>
            <a:r>
              <a:rPr sz="2000" spc="3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gathers</a:t>
            </a:r>
            <a:r>
              <a:rPr sz="2000" spc="3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sensor</a:t>
            </a:r>
            <a:r>
              <a:rPr sz="2000" spc="3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3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3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performs</a:t>
            </a:r>
            <a:r>
              <a:rPr sz="2000" spc="3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initial</a:t>
            </a:r>
            <a:r>
              <a:rPr sz="2000" spc="3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filtering</a:t>
            </a:r>
            <a:r>
              <a:rPr sz="2000" spc="3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3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ensure</a:t>
            </a:r>
            <a:r>
              <a:rPr sz="2000" spc="3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accuracy</a:t>
            </a:r>
            <a:r>
              <a:rPr sz="2000" spc="31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and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Arial MT"/>
                <a:cs typeface="Arial MT"/>
              </a:rPr>
              <a:t>reliability.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354965" algn="l"/>
              </a:tabLst>
            </a:pPr>
            <a:r>
              <a:rPr sz="2000" b="1" dirty="0">
                <a:latin typeface="Arial"/>
                <a:cs typeface="Arial"/>
              </a:rPr>
              <a:t>LOCAL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AI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PROCESSING</a:t>
            </a:r>
            <a:endParaRPr sz="20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A</a:t>
            </a:r>
            <a:r>
              <a:rPr sz="2000" spc="-1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locally</a:t>
            </a:r>
            <a:r>
              <a:rPr sz="2000" spc="-1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hosted</a:t>
            </a:r>
            <a:r>
              <a:rPr sz="2000" spc="-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AI</a:t>
            </a:r>
            <a:r>
              <a:rPr sz="2000" spc="-1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server</a:t>
            </a:r>
            <a:r>
              <a:rPr sz="2000" spc="-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analyzes  the</a:t>
            </a:r>
            <a:r>
              <a:rPr sz="2000" spc="-1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-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using</a:t>
            </a:r>
            <a:r>
              <a:rPr sz="2000" spc="-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machine</a:t>
            </a:r>
            <a:r>
              <a:rPr sz="2000" spc="-1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learning</a:t>
            </a:r>
            <a:r>
              <a:rPr sz="2000" spc="-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algorithms  to</a:t>
            </a:r>
            <a:r>
              <a:rPr sz="2000" spc="-10" dirty="0">
                <a:latin typeface="Arial MT"/>
                <a:cs typeface="Arial MT"/>
              </a:rPr>
              <a:t>  detect </a:t>
            </a:r>
            <a:r>
              <a:rPr sz="2000" dirty="0">
                <a:latin typeface="Arial MT"/>
                <a:cs typeface="Arial MT"/>
              </a:rPr>
              <a:t>anomalies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predict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environmental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risks.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sz="2000" b="1" spc="-10" dirty="0">
                <a:latin typeface="Arial"/>
                <a:cs typeface="Arial"/>
              </a:rPr>
              <a:t>COMMUNICATION SYSTEM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3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3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transmitted</a:t>
            </a:r>
            <a:r>
              <a:rPr sz="2000" spc="3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using</a:t>
            </a:r>
            <a:r>
              <a:rPr sz="2000" spc="3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protocols</a:t>
            </a:r>
            <a:r>
              <a:rPr sz="2000" spc="3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such</a:t>
            </a:r>
            <a:r>
              <a:rPr sz="2000" spc="3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37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Wi-</a:t>
            </a:r>
            <a:r>
              <a:rPr sz="2000" dirty="0">
                <a:latin typeface="Arial MT"/>
                <a:cs typeface="Arial MT"/>
              </a:rPr>
              <a:t>Fi</a:t>
            </a:r>
            <a:r>
              <a:rPr sz="2000" spc="3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3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MQTT,</a:t>
            </a:r>
            <a:r>
              <a:rPr sz="2000" spc="3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enabling</a:t>
            </a:r>
            <a:r>
              <a:rPr sz="2000" spc="3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efficient</a:t>
            </a:r>
            <a:r>
              <a:rPr sz="2000" spc="3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36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real-</a:t>
            </a:r>
            <a:r>
              <a:rPr sz="2000" spc="-20" dirty="0">
                <a:latin typeface="Arial MT"/>
                <a:cs typeface="Arial MT"/>
              </a:rPr>
              <a:t>time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communication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between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devices.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sz="2000" b="1" dirty="0">
                <a:latin typeface="Arial"/>
                <a:cs typeface="Arial"/>
              </a:rPr>
              <a:t>ALERT</a:t>
            </a:r>
            <a:r>
              <a:rPr sz="2000" b="1" spc="-6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AND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NOTIFICATION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SYSTEM</a:t>
            </a:r>
            <a:endParaRPr sz="2000">
              <a:latin typeface="Arial"/>
              <a:cs typeface="Arial"/>
            </a:endParaRPr>
          </a:p>
          <a:p>
            <a:pPr marL="12700" marR="1016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system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generates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instant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alerts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when parameters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exceed safe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limits, improving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response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to </a:t>
            </a:r>
            <a:r>
              <a:rPr sz="2000" dirty="0">
                <a:latin typeface="Arial MT"/>
                <a:cs typeface="Arial MT"/>
              </a:rPr>
              <a:t>hazardous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conditions.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sz="2000" b="1" dirty="0">
                <a:latin typeface="Arial"/>
                <a:cs typeface="Arial"/>
              </a:rPr>
              <a:t>USER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INTERFACE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AND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VISUALIZATION</a:t>
            </a:r>
            <a:endParaRPr sz="2000">
              <a:latin typeface="Arial"/>
              <a:cs typeface="Arial"/>
            </a:endParaRPr>
          </a:p>
          <a:p>
            <a:pPr marL="12700" marR="635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Arial MT"/>
                <a:cs typeface="Arial MT"/>
              </a:rPr>
              <a:t>A</a:t>
            </a:r>
            <a:r>
              <a:rPr sz="2000" spc="3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dashboard</a:t>
            </a:r>
            <a:r>
              <a:rPr sz="2000" spc="2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displays</a:t>
            </a:r>
            <a:r>
              <a:rPr sz="2000" spc="35" dirty="0">
                <a:latin typeface="Arial MT"/>
                <a:cs typeface="Arial MT"/>
              </a:rPr>
              <a:t>  </a:t>
            </a:r>
            <a:r>
              <a:rPr sz="2000" spc="-10" dirty="0">
                <a:latin typeface="Arial MT"/>
                <a:cs typeface="Arial MT"/>
              </a:rPr>
              <a:t>real-</a:t>
            </a:r>
            <a:r>
              <a:rPr sz="2000" dirty="0">
                <a:latin typeface="Arial MT"/>
                <a:cs typeface="Arial MT"/>
              </a:rPr>
              <a:t>time</a:t>
            </a:r>
            <a:r>
              <a:rPr sz="2000" spc="3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2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3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trends,</a:t>
            </a:r>
            <a:r>
              <a:rPr sz="2000" spc="3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allowing</a:t>
            </a:r>
            <a:r>
              <a:rPr sz="2000" spc="4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users</a:t>
            </a:r>
            <a:r>
              <a:rPr sz="2000" spc="3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3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monitor</a:t>
            </a:r>
            <a:r>
              <a:rPr sz="2000" spc="30" dirty="0">
                <a:latin typeface="Arial MT"/>
                <a:cs typeface="Arial MT"/>
              </a:rPr>
              <a:t>  </a:t>
            </a:r>
            <a:r>
              <a:rPr sz="2000" spc="-10" dirty="0">
                <a:latin typeface="Arial MT"/>
                <a:cs typeface="Arial MT"/>
              </a:rPr>
              <a:t>environmental </a:t>
            </a:r>
            <a:r>
              <a:rPr sz="2000" dirty="0">
                <a:latin typeface="Arial MT"/>
                <a:cs typeface="Arial MT"/>
              </a:rPr>
              <a:t>conditions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effectively.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98165">
              <a:lnSpc>
                <a:spcPct val="100000"/>
              </a:lnSpc>
              <a:spcBef>
                <a:spcPts val="95"/>
              </a:spcBef>
            </a:pPr>
            <a:r>
              <a:rPr sz="4000" spc="-95" dirty="0"/>
              <a:t>Block</a:t>
            </a:r>
            <a:r>
              <a:rPr sz="4000" spc="-250" dirty="0"/>
              <a:t> </a:t>
            </a:r>
            <a:r>
              <a:rPr sz="4000" spc="-45" dirty="0"/>
              <a:t>Diagram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281305" cy="2425065"/>
            <a:chOff x="-4762" y="-4762"/>
            <a:chExt cx="281305" cy="24250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34" y="12700"/>
              <a:ext cx="269925" cy="240741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42392" cy="236359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242570" cy="2364105"/>
            </a:xfrm>
            <a:custGeom>
              <a:avLst/>
              <a:gdLst/>
              <a:ahLst/>
              <a:cxnLst/>
              <a:rect l="l" t="t" r="r" b="b"/>
              <a:pathLst>
                <a:path w="242570" h="2364105">
                  <a:moveTo>
                    <a:pt x="0" y="0"/>
                  </a:moveTo>
                  <a:lnTo>
                    <a:pt x="0" y="2363597"/>
                  </a:lnTo>
                  <a:lnTo>
                    <a:pt x="242392" y="2363597"/>
                  </a:lnTo>
                  <a:lnTo>
                    <a:pt x="242392" y="0"/>
                  </a:lnTo>
                </a:path>
              </a:pathLst>
            </a:custGeom>
            <a:ln w="9525">
              <a:solidFill>
                <a:srgbClr val="46AA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1149456" y="4473187"/>
            <a:ext cx="285750" cy="2390140"/>
            <a:chOff x="11149456" y="4473187"/>
            <a:chExt cx="285750" cy="239014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49456" y="4473187"/>
              <a:ext cx="280504" cy="238480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87556" y="4481699"/>
              <a:ext cx="242392" cy="237629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187556" y="4481703"/>
              <a:ext cx="242570" cy="2376805"/>
            </a:xfrm>
            <a:custGeom>
              <a:avLst/>
              <a:gdLst/>
              <a:ahLst/>
              <a:cxnLst/>
              <a:rect l="l" t="t" r="r" b="b"/>
              <a:pathLst>
                <a:path w="242570" h="2376804">
                  <a:moveTo>
                    <a:pt x="0" y="2376297"/>
                  </a:moveTo>
                  <a:lnTo>
                    <a:pt x="242392" y="2376297"/>
                  </a:lnTo>
                  <a:lnTo>
                    <a:pt x="242392" y="0"/>
                  </a:lnTo>
                  <a:lnTo>
                    <a:pt x="0" y="0"/>
                  </a:lnTo>
                  <a:lnTo>
                    <a:pt x="0" y="2376297"/>
                  </a:lnTo>
                  <a:close/>
                </a:path>
              </a:pathLst>
            </a:custGeom>
            <a:ln w="9525">
              <a:solidFill>
                <a:srgbClr val="46AA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78382" y="760269"/>
            <a:ext cx="8462006" cy="6017766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0589132" y="6431991"/>
            <a:ext cx="122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68686"/>
                </a:solidFill>
                <a:latin typeface="Verdana"/>
                <a:cs typeface="Verdana"/>
              </a:rPr>
              <a:t>8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27401" y="6535318"/>
            <a:ext cx="5699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006DC0"/>
                </a:solidFill>
                <a:latin typeface="Verdana"/>
                <a:cs typeface="Verdana"/>
              </a:rPr>
              <a:t>Vel</a:t>
            </a:r>
            <a:r>
              <a:rPr sz="1200" spc="-105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006DC0"/>
                </a:solidFill>
                <a:latin typeface="Verdana"/>
                <a:cs typeface="Verdana"/>
              </a:rPr>
              <a:t>Tech</a:t>
            </a:r>
            <a:r>
              <a:rPr sz="1200" spc="-105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6DC0"/>
                </a:solidFill>
                <a:latin typeface="Verdana"/>
                <a:cs typeface="Verdana"/>
              </a:rPr>
              <a:t>Rangarajan</a:t>
            </a:r>
            <a:r>
              <a:rPr sz="1200" spc="7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70" dirty="0">
                <a:solidFill>
                  <a:srgbClr val="006DC0"/>
                </a:solidFill>
                <a:latin typeface="Verdana"/>
                <a:cs typeface="Verdana"/>
              </a:rPr>
              <a:t>Dr.</a:t>
            </a:r>
            <a:r>
              <a:rPr sz="1200" spc="-25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006DC0"/>
                </a:solidFill>
                <a:latin typeface="Verdana"/>
                <a:cs typeface="Verdana"/>
              </a:rPr>
              <a:t>Sagunthala</a:t>
            </a:r>
            <a:r>
              <a:rPr sz="1200" spc="3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45" dirty="0">
                <a:solidFill>
                  <a:srgbClr val="006DC0"/>
                </a:solidFill>
                <a:latin typeface="Verdana"/>
                <a:cs typeface="Verdana"/>
              </a:rPr>
              <a:t>R&amp;D</a:t>
            </a:r>
            <a:r>
              <a:rPr sz="1200" spc="-15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100" dirty="0">
                <a:solidFill>
                  <a:srgbClr val="006DC0"/>
                </a:solidFill>
                <a:latin typeface="Verdana"/>
                <a:cs typeface="Verdana"/>
              </a:rPr>
              <a:t>Institute</a:t>
            </a:r>
            <a:r>
              <a:rPr sz="1200" spc="-12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6DC0"/>
                </a:solidFill>
                <a:latin typeface="Verdana"/>
                <a:cs typeface="Verdana"/>
              </a:rPr>
              <a:t>of</a:t>
            </a:r>
            <a:r>
              <a:rPr sz="1200" spc="-8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006DC0"/>
                </a:solidFill>
                <a:latin typeface="Verdana"/>
                <a:cs typeface="Verdana"/>
              </a:rPr>
              <a:t>Science</a:t>
            </a:r>
            <a:r>
              <a:rPr sz="1200" spc="-7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6DC0"/>
                </a:solidFill>
                <a:latin typeface="Verdana"/>
                <a:cs typeface="Verdana"/>
              </a:rPr>
              <a:t>and</a:t>
            </a:r>
            <a:r>
              <a:rPr sz="1200" spc="-2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6DC0"/>
                </a:solidFill>
                <a:latin typeface="Verdana"/>
                <a:cs typeface="Verdana"/>
              </a:rPr>
              <a:t>Technology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3251" rIns="0" bIns="0" rtlCol="0">
            <a:spAutoFit/>
          </a:bodyPr>
          <a:lstStyle/>
          <a:p>
            <a:pPr marL="2764790">
              <a:lnSpc>
                <a:spcPct val="100000"/>
              </a:lnSpc>
              <a:spcBef>
                <a:spcPts val="105"/>
              </a:spcBef>
            </a:pPr>
            <a:r>
              <a:rPr dirty="0"/>
              <a:t>Circuit</a:t>
            </a:r>
            <a:r>
              <a:rPr spc="-55" dirty="0"/>
              <a:t> </a:t>
            </a:r>
            <a:r>
              <a:rPr spc="-10" dirty="0"/>
              <a:t>Diagram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0800" y="1469136"/>
            <a:ext cx="6198488" cy="46222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8173" rIns="0" bIns="0" rtlCol="0">
            <a:spAutoFit/>
          </a:bodyPr>
          <a:lstStyle/>
          <a:p>
            <a:pPr marL="1504315">
              <a:lnSpc>
                <a:spcPct val="100000"/>
              </a:lnSpc>
              <a:spcBef>
                <a:spcPts val="95"/>
              </a:spcBef>
            </a:pPr>
            <a:r>
              <a:rPr sz="4000" spc="-225" dirty="0"/>
              <a:t>Software/Hardware</a:t>
            </a:r>
            <a:r>
              <a:rPr sz="4000" spc="-245" dirty="0"/>
              <a:t> </a:t>
            </a:r>
            <a:r>
              <a:rPr sz="4000" spc="-95" dirty="0"/>
              <a:t>to</a:t>
            </a:r>
            <a:r>
              <a:rPr sz="4000" spc="-270" dirty="0"/>
              <a:t> </a:t>
            </a:r>
            <a:r>
              <a:rPr sz="4000" dirty="0"/>
              <a:t>be</a:t>
            </a:r>
            <a:r>
              <a:rPr sz="4000" spc="229" dirty="0"/>
              <a:t> </a:t>
            </a:r>
            <a:r>
              <a:rPr sz="4000" spc="-20" dirty="0"/>
              <a:t>used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585975" y="1558290"/>
            <a:ext cx="14941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latin typeface="Tahoma"/>
                <a:cs typeface="Tahoma"/>
              </a:rPr>
              <a:t>Hardware: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85975" y="2224531"/>
            <a:ext cx="3427729" cy="37134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</a:tabLst>
            </a:pPr>
            <a:r>
              <a:rPr sz="2200" spc="-185" dirty="0">
                <a:latin typeface="Verdana"/>
                <a:cs typeface="Verdana"/>
              </a:rPr>
              <a:t>ESP32</a:t>
            </a:r>
            <a:r>
              <a:rPr sz="2200" spc="-385" dirty="0">
                <a:latin typeface="Verdana"/>
                <a:cs typeface="Verdana"/>
              </a:rPr>
              <a:t> </a:t>
            </a:r>
            <a:r>
              <a:rPr sz="2200" spc="-45" dirty="0">
                <a:latin typeface="Verdana"/>
                <a:cs typeface="Verdana"/>
              </a:rPr>
              <a:t>(Microcontroller)</a:t>
            </a:r>
            <a:endParaRPr sz="22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200" spc="-10" dirty="0">
                <a:latin typeface="Verdana"/>
                <a:cs typeface="Verdana"/>
              </a:rPr>
              <a:t>HLTDS33</a:t>
            </a:r>
            <a:endParaRPr sz="22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200" spc="-130" dirty="0">
                <a:latin typeface="Verdana"/>
                <a:cs typeface="Verdana"/>
              </a:rPr>
              <a:t>Turbidity</a:t>
            </a:r>
            <a:r>
              <a:rPr sz="2200" spc="-2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Sensor</a:t>
            </a:r>
            <a:endParaRPr sz="22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200" spc="-85" dirty="0">
                <a:latin typeface="Verdana"/>
                <a:cs typeface="Verdana"/>
              </a:rPr>
              <a:t>Temperature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Sensor</a:t>
            </a:r>
            <a:endParaRPr sz="22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200" dirty="0">
                <a:latin typeface="Verdana"/>
                <a:cs typeface="Verdana"/>
              </a:rPr>
              <a:t>MQ</a:t>
            </a:r>
            <a:r>
              <a:rPr sz="2200" spc="95" dirty="0">
                <a:latin typeface="Verdana"/>
                <a:cs typeface="Verdana"/>
              </a:rPr>
              <a:t> </a:t>
            </a:r>
            <a:r>
              <a:rPr sz="2200" spc="-50" dirty="0">
                <a:latin typeface="Verdana"/>
                <a:cs typeface="Verdana"/>
              </a:rPr>
              <a:t>9</a:t>
            </a:r>
            <a:endParaRPr sz="22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200" spc="-70" dirty="0">
                <a:latin typeface="Verdana"/>
                <a:cs typeface="Verdana"/>
              </a:rPr>
              <a:t>MQ</a:t>
            </a:r>
            <a:r>
              <a:rPr sz="2200" spc="-36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135</a:t>
            </a:r>
            <a:endParaRPr sz="22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200" spc="-10" dirty="0">
                <a:latin typeface="Verdana"/>
                <a:cs typeface="Verdana"/>
              </a:rPr>
              <a:t>DHT22</a:t>
            </a:r>
            <a:endParaRPr sz="22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200" dirty="0">
                <a:latin typeface="Verdana"/>
                <a:cs typeface="Verdana"/>
              </a:rPr>
              <a:t>Connecting</a:t>
            </a:r>
            <a:r>
              <a:rPr sz="2200" spc="-11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Wires</a:t>
            </a:r>
            <a:endParaRPr sz="22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200" spc="-10" dirty="0">
                <a:latin typeface="Verdana"/>
                <a:cs typeface="Verdana"/>
              </a:rPr>
              <a:t>Battery</a:t>
            </a:r>
            <a:endParaRPr sz="22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sz="2200" spc="-40" dirty="0">
                <a:latin typeface="Verdana"/>
                <a:cs typeface="Verdana"/>
              </a:rPr>
              <a:t>LCD</a:t>
            </a:r>
            <a:r>
              <a:rPr sz="2200" spc="-1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Display</a:t>
            </a:r>
            <a:endParaRPr sz="22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200" dirty="0">
                <a:latin typeface="Verdana"/>
                <a:cs typeface="Verdana"/>
              </a:rPr>
              <a:t>Buck</a:t>
            </a:r>
            <a:r>
              <a:rPr sz="2200" spc="-1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Converter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89191" y="1624660"/>
            <a:ext cx="15157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Tahoma"/>
                <a:cs typeface="Tahoma"/>
              </a:rPr>
              <a:t>Software: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89191" y="2419350"/>
            <a:ext cx="2090420" cy="267779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Verdana"/>
                <a:cs typeface="Verdana"/>
              </a:rPr>
              <a:t>Python</a:t>
            </a:r>
            <a:endParaRPr sz="24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70" dirty="0">
                <a:latin typeface="Verdana"/>
                <a:cs typeface="Verdana"/>
              </a:rPr>
              <a:t>Blynk</a:t>
            </a:r>
            <a:r>
              <a:rPr sz="2400" spc="-39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Cloud</a:t>
            </a:r>
            <a:endParaRPr sz="24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55" dirty="0">
                <a:latin typeface="Verdana"/>
                <a:cs typeface="Verdana"/>
              </a:rPr>
              <a:t>ThingSpeak</a:t>
            </a:r>
            <a:endParaRPr sz="24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20" dirty="0">
                <a:latin typeface="Verdana"/>
                <a:cs typeface="Verdana"/>
              </a:rPr>
              <a:t>HTML</a:t>
            </a:r>
            <a:endParaRPr sz="24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25" dirty="0">
                <a:latin typeface="Verdana"/>
                <a:cs typeface="Verdana"/>
              </a:rPr>
              <a:t>CSS</a:t>
            </a:r>
            <a:endParaRPr sz="24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Verdana"/>
                <a:cs typeface="Verdana"/>
              </a:rPr>
              <a:t>JavaScript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-4762" y="-4762"/>
            <a:ext cx="281305" cy="2437130"/>
            <a:chOff x="-4762" y="-4762"/>
            <a:chExt cx="281305" cy="243713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34" y="12700"/>
              <a:ext cx="269925" cy="241960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42392" cy="237629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0" y="0"/>
              <a:ext cx="242570" cy="2376805"/>
            </a:xfrm>
            <a:custGeom>
              <a:avLst/>
              <a:gdLst/>
              <a:ahLst/>
              <a:cxnLst/>
              <a:rect l="l" t="t" r="r" b="b"/>
              <a:pathLst>
                <a:path w="242570" h="2376805">
                  <a:moveTo>
                    <a:pt x="0" y="2376297"/>
                  </a:moveTo>
                  <a:lnTo>
                    <a:pt x="242392" y="2376297"/>
                  </a:lnTo>
                  <a:lnTo>
                    <a:pt x="242392" y="0"/>
                  </a:lnTo>
                  <a:lnTo>
                    <a:pt x="0" y="0"/>
                  </a:lnTo>
                  <a:lnTo>
                    <a:pt x="0" y="2376297"/>
                  </a:lnTo>
                  <a:close/>
                </a:path>
              </a:pathLst>
            </a:custGeom>
            <a:ln w="9525">
              <a:solidFill>
                <a:srgbClr val="46AA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1149456" y="4473187"/>
            <a:ext cx="285750" cy="2390140"/>
            <a:chOff x="11149456" y="4473187"/>
            <a:chExt cx="285750" cy="2390140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49456" y="4473187"/>
              <a:ext cx="280504" cy="238480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87556" y="4481699"/>
              <a:ext cx="242392" cy="237629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1187556" y="4481703"/>
              <a:ext cx="242570" cy="2376805"/>
            </a:xfrm>
            <a:custGeom>
              <a:avLst/>
              <a:gdLst/>
              <a:ahLst/>
              <a:cxnLst/>
              <a:rect l="l" t="t" r="r" b="b"/>
              <a:pathLst>
                <a:path w="242570" h="2376804">
                  <a:moveTo>
                    <a:pt x="0" y="2376297"/>
                  </a:moveTo>
                  <a:lnTo>
                    <a:pt x="242392" y="2376297"/>
                  </a:lnTo>
                  <a:lnTo>
                    <a:pt x="242392" y="0"/>
                  </a:lnTo>
                  <a:lnTo>
                    <a:pt x="0" y="0"/>
                  </a:lnTo>
                  <a:lnTo>
                    <a:pt x="0" y="2376297"/>
                  </a:lnTo>
                  <a:close/>
                </a:path>
              </a:pathLst>
            </a:custGeom>
            <a:ln w="9525">
              <a:solidFill>
                <a:srgbClr val="46AA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0589132" y="6431991"/>
            <a:ext cx="21462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68686"/>
                </a:solidFill>
                <a:latin typeface="Verdana"/>
                <a:cs typeface="Verdana"/>
              </a:rPr>
              <a:t>10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27401" y="6535318"/>
            <a:ext cx="5699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006DC0"/>
                </a:solidFill>
                <a:latin typeface="Verdana"/>
                <a:cs typeface="Verdana"/>
              </a:rPr>
              <a:t>Vel</a:t>
            </a:r>
            <a:r>
              <a:rPr sz="1200" spc="-105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006DC0"/>
                </a:solidFill>
                <a:latin typeface="Verdana"/>
                <a:cs typeface="Verdana"/>
              </a:rPr>
              <a:t>Tech</a:t>
            </a:r>
            <a:r>
              <a:rPr sz="1200" spc="-105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6DC0"/>
                </a:solidFill>
                <a:latin typeface="Verdana"/>
                <a:cs typeface="Verdana"/>
              </a:rPr>
              <a:t>Rangarajan</a:t>
            </a:r>
            <a:r>
              <a:rPr sz="1200" spc="7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70" dirty="0">
                <a:solidFill>
                  <a:srgbClr val="006DC0"/>
                </a:solidFill>
                <a:latin typeface="Verdana"/>
                <a:cs typeface="Verdana"/>
              </a:rPr>
              <a:t>Dr.</a:t>
            </a:r>
            <a:r>
              <a:rPr sz="1200" spc="-25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006DC0"/>
                </a:solidFill>
                <a:latin typeface="Verdana"/>
                <a:cs typeface="Verdana"/>
              </a:rPr>
              <a:t>Sagunthala</a:t>
            </a:r>
            <a:r>
              <a:rPr sz="1200" spc="3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45" dirty="0">
                <a:solidFill>
                  <a:srgbClr val="006DC0"/>
                </a:solidFill>
                <a:latin typeface="Verdana"/>
                <a:cs typeface="Verdana"/>
              </a:rPr>
              <a:t>R&amp;D</a:t>
            </a:r>
            <a:r>
              <a:rPr sz="1200" spc="-15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100" dirty="0">
                <a:solidFill>
                  <a:srgbClr val="006DC0"/>
                </a:solidFill>
                <a:latin typeface="Verdana"/>
                <a:cs typeface="Verdana"/>
              </a:rPr>
              <a:t>Institute</a:t>
            </a:r>
            <a:r>
              <a:rPr sz="1200" spc="-12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6DC0"/>
                </a:solidFill>
                <a:latin typeface="Verdana"/>
                <a:cs typeface="Verdana"/>
              </a:rPr>
              <a:t>of</a:t>
            </a:r>
            <a:r>
              <a:rPr sz="1200" spc="-8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006DC0"/>
                </a:solidFill>
                <a:latin typeface="Verdana"/>
                <a:cs typeface="Verdana"/>
              </a:rPr>
              <a:t>Science</a:t>
            </a:r>
            <a:r>
              <a:rPr sz="1200" spc="-7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6DC0"/>
                </a:solidFill>
                <a:latin typeface="Verdana"/>
                <a:cs typeface="Verdana"/>
              </a:rPr>
              <a:t>and</a:t>
            </a:r>
            <a:r>
              <a:rPr sz="1200" spc="-2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6DC0"/>
                </a:solidFill>
                <a:latin typeface="Verdana"/>
                <a:cs typeface="Verdana"/>
              </a:rPr>
              <a:t>Technology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3251" rIns="0" bIns="0" rtlCol="0">
            <a:spAutoFit/>
          </a:bodyPr>
          <a:lstStyle/>
          <a:p>
            <a:pPr marL="391096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Prototype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5600" y="1600835"/>
            <a:ext cx="5943600" cy="44577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8173" rIns="0" bIns="0" rtlCol="0">
            <a:spAutoFit/>
          </a:bodyPr>
          <a:lstStyle/>
          <a:p>
            <a:pPr marL="2429510">
              <a:lnSpc>
                <a:spcPct val="100000"/>
              </a:lnSpc>
              <a:spcBef>
                <a:spcPts val="95"/>
              </a:spcBef>
            </a:pPr>
            <a:r>
              <a:rPr sz="4000" spc="-254" dirty="0"/>
              <a:t>Results</a:t>
            </a:r>
            <a:r>
              <a:rPr sz="4000" spc="-420" dirty="0"/>
              <a:t> </a:t>
            </a:r>
            <a:r>
              <a:rPr sz="4000" dirty="0"/>
              <a:t>and</a:t>
            </a:r>
            <a:r>
              <a:rPr sz="4000" spc="-45" dirty="0"/>
              <a:t> </a:t>
            </a:r>
            <a:r>
              <a:rPr sz="4000" spc="-110" dirty="0"/>
              <a:t>Discussions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400936" y="1571625"/>
            <a:ext cx="8263255" cy="339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93065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spc="-85" dirty="0">
                <a:latin typeface="Verdana"/>
                <a:cs typeface="Verdana"/>
              </a:rPr>
              <a:t>The</a:t>
            </a:r>
            <a:r>
              <a:rPr sz="2400" spc="-365" dirty="0">
                <a:latin typeface="Verdana"/>
                <a:cs typeface="Verdana"/>
              </a:rPr>
              <a:t> </a:t>
            </a:r>
            <a:r>
              <a:rPr sz="2400" spc="-150" dirty="0">
                <a:latin typeface="Verdana"/>
                <a:cs typeface="Verdana"/>
              </a:rPr>
              <a:t>system</a:t>
            </a:r>
            <a:r>
              <a:rPr sz="2400" spc="-300" dirty="0">
                <a:latin typeface="Verdana"/>
                <a:cs typeface="Verdana"/>
              </a:rPr>
              <a:t> </a:t>
            </a:r>
            <a:r>
              <a:rPr sz="2400" spc="-105" dirty="0">
                <a:latin typeface="Verdana"/>
                <a:cs typeface="Verdana"/>
              </a:rPr>
              <a:t>successfully</a:t>
            </a:r>
            <a:r>
              <a:rPr sz="2400" spc="-220" dirty="0">
                <a:latin typeface="Verdana"/>
                <a:cs typeface="Verdana"/>
              </a:rPr>
              <a:t> </a:t>
            </a:r>
            <a:r>
              <a:rPr sz="2400" spc="-140" dirty="0">
                <a:latin typeface="Verdana"/>
                <a:cs typeface="Verdana"/>
              </a:rPr>
              <a:t>monitors</a:t>
            </a:r>
            <a:r>
              <a:rPr sz="2400" spc="-28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both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water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air </a:t>
            </a:r>
            <a:r>
              <a:rPr sz="2400" spc="-85" dirty="0">
                <a:latin typeface="Verdana"/>
                <a:cs typeface="Verdana"/>
              </a:rPr>
              <a:t>quality</a:t>
            </a:r>
            <a:r>
              <a:rPr sz="2400" spc="-225" dirty="0">
                <a:latin typeface="Verdana"/>
                <a:cs typeface="Verdana"/>
              </a:rPr>
              <a:t> </a:t>
            </a:r>
            <a:r>
              <a:rPr sz="2400" spc="-65" dirty="0">
                <a:latin typeface="Verdana"/>
                <a:cs typeface="Verdana"/>
              </a:rPr>
              <a:t>in</a:t>
            </a:r>
            <a:r>
              <a:rPr sz="2400" spc="-295" dirty="0">
                <a:latin typeface="Verdana"/>
                <a:cs typeface="Verdana"/>
              </a:rPr>
              <a:t> </a:t>
            </a:r>
            <a:r>
              <a:rPr sz="2400" spc="-30" dirty="0">
                <a:latin typeface="Verdana"/>
                <a:cs typeface="Verdana"/>
              </a:rPr>
              <a:t>real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spc="-105" dirty="0">
                <a:latin typeface="Verdana"/>
                <a:cs typeface="Verdana"/>
              </a:rPr>
              <a:t>time.</a:t>
            </a:r>
            <a:r>
              <a:rPr sz="2400" spc="-2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Accurate</a:t>
            </a:r>
            <a:r>
              <a:rPr sz="2400" spc="-10" dirty="0">
                <a:latin typeface="Verdana"/>
                <a:cs typeface="Verdana"/>
              </a:rPr>
              <a:t> detection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pollution </a:t>
            </a:r>
            <a:r>
              <a:rPr sz="2400" spc="-95" dirty="0">
                <a:latin typeface="Verdana"/>
                <a:cs typeface="Verdana"/>
              </a:rPr>
              <a:t>levels</a:t>
            </a:r>
            <a:r>
              <a:rPr sz="2400" spc="-18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was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achieved</a:t>
            </a:r>
            <a:r>
              <a:rPr sz="2400" spc="80" dirty="0">
                <a:latin typeface="Verdana"/>
                <a:cs typeface="Verdana"/>
              </a:rPr>
              <a:t> </a:t>
            </a:r>
            <a:r>
              <a:rPr sz="2400" spc="-105" dirty="0">
                <a:latin typeface="Verdana"/>
                <a:cs typeface="Verdana"/>
              </a:rPr>
              <a:t>using</a:t>
            </a:r>
            <a:r>
              <a:rPr sz="2400" spc="-265" dirty="0">
                <a:latin typeface="Verdana"/>
                <a:cs typeface="Verdana"/>
              </a:rPr>
              <a:t> </a:t>
            </a:r>
            <a:r>
              <a:rPr sz="2400" spc="-245" dirty="0">
                <a:latin typeface="Verdana"/>
                <a:cs typeface="Verdana"/>
              </a:rPr>
              <a:t>AI-</a:t>
            </a:r>
            <a:r>
              <a:rPr sz="2400" dirty="0">
                <a:latin typeface="Verdana"/>
                <a:cs typeface="Verdana"/>
              </a:rPr>
              <a:t>based</a:t>
            </a:r>
            <a:r>
              <a:rPr sz="2400" spc="85" dirty="0">
                <a:latin typeface="Verdana"/>
                <a:cs typeface="Verdana"/>
              </a:rPr>
              <a:t> </a:t>
            </a:r>
            <a:r>
              <a:rPr sz="2400" spc="-125" dirty="0">
                <a:latin typeface="Verdana"/>
                <a:cs typeface="Verdana"/>
              </a:rPr>
              <a:t>analysis.</a:t>
            </a:r>
            <a:r>
              <a:rPr sz="2400" spc="-325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The </a:t>
            </a:r>
            <a:r>
              <a:rPr sz="2400" spc="-80" dirty="0">
                <a:latin typeface="Verdana"/>
                <a:cs typeface="Verdana"/>
              </a:rPr>
              <a:t>response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-75" dirty="0">
                <a:latin typeface="Verdana"/>
                <a:cs typeface="Verdana"/>
              </a:rPr>
              <a:t>time</a:t>
            </a:r>
            <a:r>
              <a:rPr sz="2400" spc="-250" dirty="0">
                <a:latin typeface="Verdana"/>
                <a:cs typeface="Verdana"/>
              </a:rPr>
              <a:t> </a:t>
            </a:r>
            <a:r>
              <a:rPr sz="2400" spc="-90" dirty="0">
                <a:latin typeface="Verdana"/>
                <a:cs typeface="Verdana"/>
              </a:rPr>
              <a:t>is</a:t>
            </a:r>
            <a:r>
              <a:rPr sz="2400" spc="-490" dirty="0">
                <a:latin typeface="Verdana"/>
                <a:cs typeface="Verdana"/>
              </a:rPr>
              <a:t> </a:t>
            </a:r>
            <a:r>
              <a:rPr sz="2400" spc="-110" dirty="0">
                <a:latin typeface="Verdana"/>
                <a:cs typeface="Verdana"/>
              </a:rPr>
              <a:t>significantly</a:t>
            </a:r>
            <a:r>
              <a:rPr sz="2400" spc="-200" dirty="0">
                <a:latin typeface="Verdana"/>
                <a:cs typeface="Verdana"/>
              </a:rPr>
              <a:t> </a:t>
            </a:r>
            <a:r>
              <a:rPr sz="2400" spc="-95" dirty="0">
                <a:latin typeface="Verdana"/>
                <a:cs typeface="Verdana"/>
              </a:rPr>
              <a:t>faster</a:t>
            </a:r>
            <a:r>
              <a:rPr sz="2400" spc="-215" dirty="0">
                <a:latin typeface="Verdana"/>
                <a:cs typeface="Verdana"/>
              </a:rPr>
              <a:t> </a:t>
            </a:r>
            <a:r>
              <a:rPr sz="2400" spc="-50" dirty="0">
                <a:latin typeface="Verdana"/>
                <a:cs typeface="Verdana"/>
              </a:rPr>
              <a:t>than</a:t>
            </a:r>
            <a:r>
              <a:rPr sz="2400" spc="-10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traditional </a:t>
            </a:r>
            <a:r>
              <a:rPr sz="2400" spc="-100" dirty="0">
                <a:latin typeface="Verdana"/>
                <a:cs typeface="Verdana"/>
              </a:rPr>
              <a:t>monitoring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methods.</a:t>
            </a:r>
            <a:endParaRPr sz="2400">
              <a:latin typeface="Verdana"/>
              <a:cs typeface="Verdana"/>
            </a:endParaRPr>
          </a:p>
          <a:p>
            <a:pPr marL="355600" marR="5080" indent="-34290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spc="-90" dirty="0">
                <a:latin typeface="Verdana"/>
                <a:cs typeface="Verdana"/>
              </a:rPr>
              <a:t>The</a:t>
            </a:r>
            <a:r>
              <a:rPr sz="2400" spc="-335" dirty="0">
                <a:latin typeface="Verdana"/>
                <a:cs typeface="Verdana"/>
              </a:rPr>
              <a:t> </a:t>
            </a:r>
            <a:r>
              <a:rPr sz="2400" spc="-45" dirty="0">
                <a:latin typeface="Verdana"/>
                <a:cs typeface="Verdana"/>
              </a:rPr>
              <a:t>integrated</a:t>
            </a:r>
            <a:r>
              <a:rPr sz="2400" spc="-114" dirty="0">
                <a:latin typeface="Verdana"/>
                <a:cs typeface="Verdana"/>
              </a:rPr>
              <a:t> </a:t>
            </a:r>
            <a:r>
              <a:rPr sz="2400" spc="-150" dirty="0">
                <a:latin typeface="Verdana"/>
                <a:cs typeface="Verdana"/>
              </a:rPr>
              <a:t>system</a:t>
            </a:r>
            <a:r>
              <a:rPr sz="2400" spc="-320" dirty="0">
                <a:latin typeface="Verdana"/>
                <a:cs typeface="Verdana"/>
              </a:rPr>
              <a:t> </a:t>
            </a:r>
            <a:r>
              <a:rPr sz="2400" spc="-70" dirty="0">
                <a:latin typeface="Verdana"/>
                <a:cs typeface="Verdana"/>
              </a:rPr>
              <a:t>provides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-70" dirty="0">
                <a:latin typeface="Verdana"/>
                <a:cs typeface="Verdana"/>
              </a:rPr>
              <a:t>reliable</a:t>
            </a:r>
            <a:r>
              <a:rPr sz="2400" spc="-110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and </a:t>
            </a:r>
            <a:r>
              <a:rPr sz="2400" spc="-65" dirty="0">
                <a:latin typeface="Verdana"/>
                <a:cs typeface="Verdana"/>
              </a:rPr>
              <a:t>continuous</a:t>
            </a:r>
            <a:r>
              <a:rPr sz="2400" spc="-95" dirty="0">
                <a:latin typeface="Verdana"/>
                <a:cs typeface="Verdana"/>
              </a:rPr>
              <a:t> </a:t>
            </a:r>
            <a:r>
              <a:rPr sz="2400" spc="-80" dirty="0">
                <a:latin typeface="Verdana"/>
                <a:cs typeface="Verdana"/>
              </a:rPr>
              <a:t>environmental</a:t>
            </a:r>
            <a:r>
              <a:rPr sz="2400" spc="-125" dirty="0">
                <a:latin typeface="Verdana"/>
                <a:cs typeface="Verdana"/>
              </a:rPr>
              <a:t> </a:t>
            </a:r>
            <a:r>
              <a:rPr sz="2400" spc="-120" dirty="0">
                <a:latin typeface="Verdana"/>
                <a:cs typeface="Verdana"/>
              </a:rPr>
              <a:t>monitoring.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The </a:t>
            </a:r>
            <a:r>
              <a:rPr sz="2400" dirty="0">
                <a:latin typeface="Verdana"/>
                <a:cs typeface="Verdana"/>
              </a:rPr>
              <a:t>performance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depends</a:t>
            </a:r>
            <a:r>
              <a:rPr sz="2400" spc="-1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on</a:t>
            </a:r>
            <a:r>
              <a:rPr sz="2400" spc="-114" dirty="0">
                <a:latin typeface="Verdana"/>
                <a:cs typeface="Verdana"/>
              </a:rPr>
              <a:t> sensor</a:t>
            </a:r>
            <a:r>
              <a:rPr sz="2400" spc="-330" dirty="0">
                <a:latin typeface="Verdana"/>
                <a:cs typeface="Verdana"/>
              </a:rPr>
              <a:t> </a:t>
            </a:r>
            <a:r>
              <a:rPr sz="2400" spc="-40" dirty="0">
                <a:latin typeface="Verdana"/>
                <a:cs typeface="Verdana"/>
              </a:rPr>
              <a:t>calibration</a:t>
            </a:r>
            <a:r>
              <a:rPr sz="2400" spc="-1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data </a:t>
            </a:r>
            <a:r>
              <a:rPr sz="2400" spc="-10" dirty="0">
                <a:latin typeface="Verdana"/>
                <a:cs typeface="Verdana"/>
              </a:rPr>
              <a:t>quality.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4762" y="-4762"/>
            <a:ext cx="281305" cy="2437130"/>
            <a:chOff x="-4762" y="-4762"/>
            <a:chExt cx="281305" cy="24371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34" y="12700"/>
              <a:ext cx="269925" cy="241960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42392" cy="237629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0"/>
              <a:ext cx="242570" cy="2376805"/>
            </a:xfrm>
            <a:custGeom>
              <a:avLst/>
              <a:gdLst/>
              <a:ahLst/>
              <a:cxnLst/>
              <a:rect l="l" t="t" r="r" b="b"/>
              <a:pathLst>
                <a:path w="242570" h="2376805">
                  <a:moveTo>
                    <a:pt x="0" y="2376297"/>
                  </a:moveTo>
                  <a:lnTo>
                    <a:pt x="242392" y="2376297"/>
                  </a:lnTo>
                  <a:lnTo>
                    <a:pt x="242392" y="0"/>
                  </a:lnTo>
                  <a:lnTo>
                    <a:pt x="0" y="0"/>
                  </a:lnTo>
                  <a:lnTo>
                    <a:pt x="0" y="2376297"/>
                  </a:lnTo>
                  <a:close/>
                </a:path>
              </a:pathLst>
            </a:custGeom>
            <a:ln w="9525">
              <a:solidFill>
                <a:srgbClr val="46AA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1149456" y="4473187"/>
            <a:ext cx="285750" cy="2390140"/>
            <a:chOff x="11149456" y="4473187"/>
            <a:chExt cx="285750" cy="239014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49456" y="4473187"/>
              <a:ext cx="280504" cy="238480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87556" y="4481699"/>
              <a:ext cx="242392" cy="237629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1187556" y="4481703"/>
              <a:ext cx="242570" cy="2376805"/>
            </a:xfrm>
            <a:custGeom>
              <a:avLst/>
              <a:gdLst/>
              <a:ahLst/>
              <a:cxnLst/>
              <a:rect l="l" t="t" r="r" b="b"/>
              <a:pathLst>
                <a:path w="242570" h="2376804">
                  <a:moveTo>
                    <a:pt x="0" y="2376297"/>
                  </a:moveTo>
                  <a:lnTo>
                    <a:pt x="242392" y="2376297"/>
                  </a:lnTo>
                  <a:lnTo>
                    <a:pt x="242392" y="0"/>
                  </a:lnTo>
                  <a:lnTo>
                    <a:pt x="0" y="0"/>
                  </a:lnTo>
                  <a:lnTo>
                    <a:pt x="0" y="2376297"/>
                  </a:lnTo>
                  <a:close/>
                </a:path>
              </a:pathLst>
            </a:custGeom>
            <a:ln w="9525">
              <a:solidFill>
                <a:srgbClr val="46AA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0589132" y="6431991"/>
            <a:ext cx="21462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68686"/>
                </a:solidFill>
                <a:latin typeface="Verdana"/>
                <a:cs typeface="Verdana"/>
              </a:rPr>
              <a:t>12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27401" y="6535318"/>
            <a:ext cx="5699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006DC0"/>
                </a:solidFill>
                <a:latin typeface="Verdana"/>
                <a:cs typeface="Verdana"/>
              </a:rPr>
              <a:t>Vel</a:t>
            </a:r>
            <a:r>
              <a:rPr sz="1200" spc="-105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006DC0"/>
                </a:solidFill>
                <a:latin typeface="Verdana"/>
                <a:cs typeface="Verdana"/>
              </a:rPr>
              <a:t>Tech</a:t>
            </a:r>
            <a:r>
              <a:rPr sz="1200" spc="-105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6DC0"/>
                </a:solidFill>
                <a:latin typeface="Verdana"/>
                <a:cs typeface="Verdana"/>
              </a:rPr>
              <a:t>Rangarajan</a:t>
            </a:r>
            <a:r>
              <a:rPr sz="1200" spc="7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70" dirty="0">
                <a:solidFill>
                  <a:srgbClr val="006DC0"/>
                </a:solidFill>
                <a:latin typeface="Verdana"/>
                <a:cs typeface="Verdana"/>
              </a:rPr>
              <a:t>Dr.</a:t>
            </a:r>
            <a:r>
              <a:rPr sz="1200" spc="-25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006DC0"/>
                </a:solidFill>
                <a:latin typeface="Verdana"/>
                <a:cs typeface="Verdana"/>
              </a:rPr>
              <a:t>Sagunthala</a:t>
            </a:r>
            <a:r>
              <a:rPr sz="1200" spc="3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45" dirty="0">
                <a:solidFill>
                  <a:srgbClr val="006DC0"/>
                </a:solidFill>
                <a:latin typeface="Verdana"/>
                <a:cs typeface="Verdana"/>
              </a:rPr>
              <a:t>R&amp;D</a:t>
            </a:r>
            <a:r>
              <a:rPr sz="1200" spc="-15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100" dirty="0">
                <a:solidFill>
                  <a:srgbClr val="006DC0"/>
                </a:solidFill>
                <a:latin typeface="Verdana"/>
                <a:cs typeface="Verdana"/>
              </a:rPr>
              <a:t>Institute</a:t>
            </a:r>
            <a:r>
              <a:rPr sz="1200" spc="-12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6DC0"/>
                </a:solidFill>
                <a:latin typeface="Verdana"/>
                <a:cs typeface="Verdana"/>
              </a:rPr>
              <a:t>of</a:t>
            </a:r>
            <a:r>
              <a:rPr sz="1200" spc="-8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006DC0"/>
                </a:solidFill>
                <a:latin typeface="Verdana"/>
                <a:cs typeface="Verdana"/>
              </a:rPr>
              <a:t>Science</a:t>
            </a:r>
            <a:r>
              <a:rPr sz="1200" spc="-7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6DC0"/>
                </a:solidFill>
                <a:latin typeface="Verdana"/>
                <a:cs typeface="Verdana"/>
              </a:rPr>
              <a:t>and</a:t>
            </a:r>
            <a:r>
              <a:rPr sz="1200" spc="-2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6DC0"/>
                </a:solidFill>
                <a:latin typeface="Verdana"/>
                <a:cs typeface="Verdana"/>
              </a:rPr>
              <a:t>Technology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3251" rIns="0" bIns="0" rtlCol="0">
            <a:spAutoFit/>
          </a:bodyPr>
          <a:lstStyle/>
          <a:p>
            <a:pPr marL="2998470">
              <a:lnSpc>
                <a:spcPct val="100000"/>
              </a:lnSpc>
              <a:spcBef>
                <a:spcPts val="105"/>
              </a:spcBef>
            </a:pPr>
            <a:r>
              <a:rPr spc="-215" dirty="0"/>
              <a:t>Output</a:t>
            </a:r>
            <a:r>
              <a:rPr spc="-855" dirty="0"/>
              <a:t> </a:t>
            </a:r>
            <a:r>
              <a:rPr dirty="0"/>
              <a:t>&amp;</a:t>
            </a:r>
            <a:r>
              <a:rPr spc="-520" dirty="0"/>
              <a:t> </a:t>
            </a:r>
            <a:r>
              <a:rPr spc="-180" dirty="0"/>
              <a:t>Results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400" y="1306322"/>
            <a:ext cx="3270123" cy="183756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3319" y="4316450"/>
            <a:ext cx="3500628" cy="135496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86600" y="4301210"/>
            <a:ext cx="3008756" cy="135496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64477" y="1306322"/>
            <a:ext cx="3230879" cy="1837563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1242161" y="6015024"/>
            <a:ext cx="310123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dirty="0">
                <a:latin typeface="Arial MT"/>
                <a:cs typeface="Arial MT"/>
              </a:rPr>
              <a:t>Fig.3. </a:t>
            </a:r>
            <a:r>
              <a:rPr sz="1800" dirty="0">
                <a:latin typeface="Arial MT"/>
                <a:cs typeface="Arial MT"/>
              </a:rPr>
              <a:t>Showing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Humidity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Alert</a:t>
            </a:r>
            <a:r>
              <a:rPr lang="en-IN" sz="1800" spc="-10" dirty="0">
                <a:latin typeface="Arial MT"/>
                <a:cs typeface="Arial MT"/>
              </a:rPr>
              <a:t>.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166609" y="5819343"/>
            <a:ext cx="323087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IN" sz="1800" dirty="0">
                <a:latin typeface="Arial MT"/>
                <a:cs typeface="Arial MT"/>
              </a:rPr>
              <a:t>Fig.4. </a:t>
            </a:r>
            <a:r>
              <a:rPr sz="1800" dirty="0">
                <a:latin typeface="Arial MT"/>
                <a:cs typeface="Arial MT"/>
              </a:rPr>
              <a:t>Showing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Temperature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of </a:t>
            </a:r>
            <a:r>
              <a:rPr sz="1800" dirty="0">
                <a:latin typeface="Arial MT"/>
                <a:cs typeface="Arial MT"/>
              </a:rPr>
              <a:t>Air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water</a:t>
            </a:r>
            <a:r>
              <a:rPr lang="en-IN" sz="1800" spc="-20" dirty="0">
                <a:latin typeface="Arial MT"/>
                <a:cs typeface="Arial MT"/>
              </a:rPr>
              <a:t>.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8FADBB2-70DA-20BB-060C-D94E039392C0}"/>
              </a:ext>
            </a:extLst>
          </p:cNvPr>
          <p:cNvSpPr txBox="1"/>
          <p:nvPr/>
        </p:nvSpPr>
        <p:spPr>
          <a:xfrm>
            <a:off x="1440053" y="3333874"/>
            <a:ext cx="30175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Fig.1. </a:t>
            </a:r>
            <a:r>
              <a:rPr lang="en-US" dirty="0"/>
              <a:t>Showing IP address       of the system.</a:t>
            </a:r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5324568-53D7-075A-0C32-EF230D628FDF}"/>
              </a:ext>
            </a:extLst>
          </p:cNvPr>
          <p:cNvSpPr txBox="1"/>
          <p:nvPr/>
        </p:nvSpPr>
        <p:spPr>
          <a:xfrm>
            <a:off x="7086599" y="3429000"/>
            <a:ext cx="2903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Fig.2. Showing turbidity   and </a:t>
            </a:r>
            <a:r>
              <a:rPr lang="en-US" dirty="0" err="1"/>
              <a:t>tds</a:t>
            </a:r>
            <a:r>
              <a:rPr lang="en-US" dirty="0"/>
              <a:t> of the water.</a:t>
            </a:r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3251" rIns="0" bIns="0" rtlCol="0">
            <a:spAutoFit/>
          </a:bodyPr>
          <a:lstStyle/>
          <a:p>
            <a:pPr marL="3092450">
              <a:lnSpc>
                <a:spcPct val="100000"/>
              </a:lnSpc>
              <a:spcBef>
                <a:spcPts val="105"/>
              </a:spcBef>
            </a:pPr>
            <a:r>
              <a:rPr dirty="0"/>
              <a:t>Output</a:t>
            </a:r>
            <a:r>
              <a:rPr spc="-100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spc="-10" dirty="0"/>
              <a:t>Result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400" y="1981200"/>
            <a:ext cx="1524000" cy="338670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0" y="1981200"/>
            <a:ext cx="1524000" cy="338670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09407" y="2018538"/>
            <a:ext cx="1434591" cy="337248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618869" y="5895543"/>
            <a:ext cx="82657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07715" marR="5080" indent="-329565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Showing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all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parameters of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air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water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together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our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website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With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ai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chat </a:t>
            </a:r>
            <a:r>
              <a:rPr sz="1800" b="1" dirty="0">
                <a:latin typeface="Arial"/>
                <a:cs typeface="Arial"/>
              </a:rPr>
              <a:t>bot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integrated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50" dirty="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3036" rIns="0" bIns="0" rtlCol="0">
            <a:spAutoFit/>
          </a:bodyPr>
          <a:lstStyle/>
          <a:p>
            <a:pPr marL="409702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Conclusion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85291" y="1323213"/>
            <a:ext cx="10074275" cy="5148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99"/>
              </a:lnSpc>
              <a:spcBef>
                <a:spcPts val="95"/>
              </a:spcBef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28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proposed</a:t>
            </a:r>
            <a:r>
              <a:rPr sz="2400" spc="280" dirty="0">
                <a:latin typeface="Arial MT"/>
                <a:cs typeface="Arial MT"/>
              </a:rPr>
              <a:t>  </a:t>
            </a:r>
            <a:r>
              <a:rPr sz="2400" spc="-10" dirty="0">
                <a:latin typeface="Arial MT"/>
                <a:cs typeface="Arial MT"/>
              </a:rPr>
              <a:t>AI-</a:t>
            </a:r>
            <a:r>
              <a:rPr sz="2400" dirty="0">
                <a:latin typeface="Arial MT"/>
                <a:cs typeface="Arial MT"/>
              </a:rPr>
              <a:t>based</a:t>
            </a:r>
            <a:r>
              <a:rPr sz="2400" spc="285" dirty="0">
                <a:latin typeface="Arial MT"/>
                <a:cs typeface="Arial MT"/>
              </a:rPr>
              <a:t>  </a:t>
            </a:r>
            <a:r>
              <a:rPr sz="2400" spc="-10" dirty="0">
                <a:latin typeface="Arial MT"/>
                <a:cs typeface="Arial MT"/>
              </a:rPr>
              <a:t>real-</a:t>
            </a:r>
            <a:r>
              <a:rPr sz="2400" dirty="0">
                <a:latin typeface="Arial MT"/>
                <a:cs typeface="Arial MT"/>
              </a:rPr>
              <a:t>time</a:t>
            </a:r>
            <a:r>
              <a:rPr sz="2400" spc="28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environmental</a:t>
            </a:r>
            <a:r>
              <a:rPr sz="2400" spc="28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monitoring</a:t>
            </a:r>
            <a:r>
              <a:rPr sz="2400" spc="290" dirty="0">
                <a:latin typeface="Arial MT"/>
                <a:cs typeface="Arial MT"/>
              </a:rPr>
              <a:t>  </a:t>
            </a:r>
            <a:r>
              <a:rPr sz="2400" spc="-10" dirty="0">
                <a:latin typeface="Arial MT"/>
                <a:cs typeface="Arial MT"/>
              </a:rPr>
              <a:t>system </a:t>
            </a:r>
            <a:r>
              <a:rPr sz="2400" dirty="0">
                <a:latin typeface="Arial MT"/>
                <a:cs typeface="Arial MT"/>
              </a:rPr>
              <a:t>provides</a:t>
            </a:r>
            <a:r>
              <a:rPr sz="2400" spc="5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5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reliable,</a:t>
            </a:r>
            <a:r>
              <a:rPr sz="2400" spc="5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cost-</a:t>
            </a:r>
            <a:r>
              <a:rPr sz="2400" dirty="0">
                <a:latin typeface="Arial MT"/>
                <a:cs typeface="Arial MT"/>
              </a:rPr>
              <a:t>effective,</a:t>
            </a:r>
            <a:r>
              <a:rPr sz="2400" spc="509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509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scalable</a:t>
            </a:r>
            <a:r>
              <a:rPr sz="2400" spc="5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solution</a:t>
            </a:r>
            <a:r>
              <a:rPr sz="2400" spc="5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5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continuous </a:t>
            </a:r>
            <a:r>
              <a:rPr sz="2400" dirty="0">
                <a:latin typeface="Arial MT"/>
                <a:cs typeface="Arial MT"/>
              </a:rPr>
              <a:t>monitoring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air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water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quality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integrating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IoT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sensors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locally </a:t>
            </a:r>
            <a:r>
              <a:rPr sz="2400" dirty="0">
                <a:latin typeface="Arial MT"/>
                <a:cs typeface="Arial MT"/>
              </a:rPr>
              <a:t>hosted</a:t>
            </a:r>
            <a:r>
              <a:rPr sz="2400" spc="3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AI</a:t>
            </a:r>
            <a:r>
              <a:rPr sz="2400" spc="2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server,</a:t>
            </a:r>
            <a:r>
              <a:rPr sz="2400" spc="3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ensuring</a:t>
            </a:r>
            <a:r>
              <a:rPr sz="2400" spc="3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efficient</a:t>
            </a:r>
            <a:r>
              <a:rPr sz="2400" spc="3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3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processing,</a:t>
            </a:r>
            <a:r>
              <a:rPr sz="2400" spc="3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reduced</a:t>
            </a:r>
            <a:r>
              <a:rPr sz="2400" spc="35" dirty="0">
                <a:latin typeface="Arial MT"/>
                <a:cs typeface="Arial MT"/>
              </a:rPr>
              <a:t>  </a:t>
            </a:r>
            <a:r>
              <a:rPr sz="2400" spc="-10" dirty="0">
                <a:latin typeface="Arial MT"/>
                <a:cs typeface="Arial MT"/>
              </a:rPr>
              <a:t>energy </a:t>
            </a:r>
            <a:r>
              <a:rPr sz="2400" dirty="0">
                <a:latin typeface="Arial MT"/>
                <a:cs typeface="Arial MT"/>
              </a:rPr>
              <a:t>consumption,</a:t>
            </a:r>
            <a:r>
              <a:rPr sz="2400" spc="1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2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minimal</a:t>
            </a:r>
            <a:r>
              <a:rPr sz="2400" spc="1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reliance</a:t>
            </a:r>
            <a:r>
              <a:rPr sz="2400" spc="2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1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cloud</a:t>
            </a:r>
            <a:r>
              <a:rPr sz="2400" spc="1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infrastructure.</a:t>
            </a:r>
            <a:r>
              <a:rPr sz="2400" spc="2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1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system’s </a:t>
            </a:r>
            <a:r>
              <a:rPr sz="2400" spc="-20" dirty="0">
                <a:latin typeface="Arial MT"/>
                <a:cs typeface="Arial MT"/>
              </a:rPr>
              <a:t>real-</a:t>
            </a:r>
            <a:r>
              <a:rPr sz="2400" dirty="0">
                <a:latin typeface="Arial MT"/>
                <a:cs typeface="Arial MT"/>
              </a:rPr>
              <a:t>time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alert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mechanism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enhances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public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awareness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enables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timely </a:t>
            </a:r>
            <a:r>
              <a:rPr sz="2400" dirty="0">
                <a:latin typeface="Arial MT"/>
                <a:cs typeface="Arial MT"/>
              </a:rPr>
              <a:t>action</a:t>
            </a:r>
            <a:r>
              <a:rPr sz="2400" spc="6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against</a:t>
            </a:r>
            <a:r>
              <a:rPr sz="2400" spc="6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environmental</a:t>
            </a:r>
            <a:r>
              <a:rPr sz="2400" spc="7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hazards.</a:t>
            </a:r>
            <a:r>
              <a:rPr sz="2400" spc="6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6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strongly</a:t>
            </a:r>
            <a:r>
              <a:rPr sz="2400" spc="6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aligns</a:t>
            </a:r>
            <a:r>
              <a:rPr sz="2400" spc="6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6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SDG</a:t>
            </a:r>
            <a:r>
              <a:rPr sz="2400" spc="65" dirty="0">
                <a:latin typeface="Arial MT"/>
                <a:cs typeface="Arial MT"/>
              </a:rPr>
              <a:t>  </a:t>
            </a:r>
            <a:r>
              <a:rPr sz="2400" spc="-50" dirty="0">
                <a:latin typeface="Arial MT"/>
                <a:cs typeface="Arial MT"/>
              </a:rPr>
              <a:t>9 </a:t>
            </a:r>
            <a:r>
              <a:rPr sz="2400" dirty="0">
                <a:latin typeface="Arial MT"/>
                <a:cs typeface="Arial MT"/>
              </a:rPr>
              <a:t>(Industry,</a:t>
            </a:r>
            <a:r>
              <a:rPr sz="2400" spc="48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Innovation</a:t>
            </a:r>
            <a:r>
              <a:rPr sz="2400" spc="4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48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Infrastructure)</a:t>
            </a:r>
            <a:r>
              <a:rPr sz="2400" spc="4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4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promoting</a:t>
            </a:r>
            <a:r>
              <a:rPr sz="2400" spc="4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smart</a:t>
            </a:r>
            <a:r>
              <a:rPr sz="2400" spc="484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monitoring </a:t>
            </a:r>
            <a:r>
              <a:rPr sz="2400" dirty="0">
                <a:latin typeface="Arial MT"/>
                <a:cs typeface="Arial MT"/>
              </a:rPr>
              <a:t>technologies, SDG 6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(Clean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Water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Sanitation)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through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effective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water </a:t>
            </a:r>
            <a:r>
              <a:rPr sz="2400" dirty="0">
                <a:latin typeface="Arial MT"/>
                <a:cs typeface="Arial MT"/>
              </a:rPr>
              <a:t>quality</a:t>
            </a:r>
            <a:r>
              <a:rPr sz="2400" spc="5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management,</a:t>
            </a:r>
            <a:r>
              <a:rPr sz="2400" spc="5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SDG</a:t>
            </a:r>
            <a:r>
              <a:rPr sz="2400" spc="5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13</a:t>
            </a:r>
            <a:r>
              <a:rPr sz="2400" spc="5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(Climate</a:t>
            </a:r>
            <a:r>
              <a:rPr sz="2400" spc="5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Action)</a:t>
            </a:r>
            <a:r>
              <a:rPr sz="2400" spc="5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5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supporting</a:t>
            </a:r>
            <a:r>
              <a:rPr sz="2400" spc="5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pollution </a:t>
            </a:r>
            <a:r>
              <a:rPr sz="2400" dirty="0">
                <a:latin typeface="Arial MT"/>
                <a:cs typeface="Arial MT"/>
              </a:rPr>
              <a:t>control</a:t>
            </a:r>
            <a:r>
              <a:rPr sz="2400" spc="41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42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environmental</a:t>
            </a:r>
            <a:r>
              <a:rPr sz="2400" spc="42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protection,</a:t>
            </a:r>
            <a:r>
              <a:rPr sz="2400" spc="41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42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SDG</a:t>
            </a:r>
            <a:r>
              <a:rPr sz="2400" spc="42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12</a:t>
            </a:r>
            <a:r>
              <a:rPr sz="2400" spc="420" dirty="0">
                <a:latin typeface="Arial MT"/>
                <a:cs typeface="Arial MT"/>
              </a:rPr>
              <a:t>  </a:t>
            </a:r>
            <a:r>
              <a:rPr sz="2400" spc="-10" dirty="0">
                <a:latin typeface="Arial MT"/>
                <a:cs typeface="Arial MT"/>
              </a:rPr>
              <a:t>(Responsible </a:t>
            </a:r>
            <a:r>
              <a:rPr sz="2400" dirty="0">
                <a:latin typeface="Arial MT"/>
                <a:cs typeface="Arial MT"/>
              </a:rPr>
              <a:t>Consumption</a:t>
            </a:r>
            <a:r>
              <a:rPr sz="2400" spc="54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55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Production)</a:t>
            </a:r>
            <a:r>
              <a:rPr sz="2400" spc="55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54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encouraging</a:t>
            </a:r>
            <a:r>
              <a:rPr sz="2400" spc="55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efficient</a:t>
            </a:r>
            <a:r>
              <a:rPr sz="2400" spc="550" dirty="0">
                <a:latin typeface="Arial MT"/>
                <a:cs typeface="Arial MT"/>
              </a:rPr>
              <a:t>  </a:t>
            </a:r>
            <a:r>
              <a:rPr sz="2400" spc="-10" dirty="0">
                <a:latin typeface="Arial MT"/>
                <a:cs typeface="Arial MT"/>
              </a:rPr>
              <a:t>resource </a:t>
            </a:r>
            <a:r>
              <a:rPr sz="2400" dirty="0">
                <a:latin typeface="Arial MT"/>
                <a:cs typeface="Arial MT"/>
              </a:rPr>
              <a:t>utilization,</a:t>
            </a:r>
            <a:r>
              <a:rPr sz="2400" spc="20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thereby</a:t>
            </a:r>
            <a:r>
              <a:rPr sz="2400" spc="20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contributing</a:t>
            </a:r>
            <a:r>
              <a:rPr sz="2400" spc="2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2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1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cleaner,</a:t>
            </a:r>
            <a:r>
              <a:rPr sz="2400" spc="20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safer,</a:t>
            </a:r>
            <a:r>
              <a:rPr sz="2400" spc="2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2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more</a:t>
            </a:r>
            <a:r>
              <a:rPr sz="2400" spc="204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sustainable future.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4762" y="-3238"/>
            <a:ext cx="281305" cy="2437130"/>
            <a:chOff x="-4762" y="-3238"/>
            <a:chExt cx="281305" cy="24371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34" y="12700"/>
              <a:ext cx="269925" cy="242112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524"/>
              <a:ext cx="242392" cy="237629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1524"/>
              <a:ext cx="242570" cy="2376805"/>
            </a:xfrm>
            <a:custGeom>
              <a:avLst/>
              <a:gdLst/>
              <a:ahLst/>
              <a:cxnLst/>
              <a:rect l="l" t="t" r="r" b="b"/>
              <a:pathLst>
                <a:path w="242570" h="2376805">
                  <a:moveTo>
                    <a:pt x="0" y="2376297"/>
                  </a:moveTo>
                  <a:lnTo>
                    <a:pt x="242392" y="2376297"/>
                  </a:lnTo>
                  <a:lnTo>
                    <a:pt x="242392" y="0"/>
                  </a:lnTo>
                  <a:lnTo>
                    <a:pt x="0" y="0"/>
                  </a:lnTo>
                  <a:lnTo>
                    <a:pt x="0" y="2376297"/>
                  </a:lnTo>
                  <a:close/>
                </a:path>
              </a:pathLst>
            </a:custGeom>
            <a:ln w="9525">
              <a:solidFill>
                <a:srgbClr val="46AA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1153902" y="4473189"/>
            <a:ext cx="281305" cy="2390140"/>
            <a:chOff x="11153902" y="4473189"/>
            <a:chExt cx="281305" cy="239014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53902" y="4473189"/>
              <a:ext cx="276085" cy="238480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92510" y="4481699"/>
              <a:ext cx="237490" cy="237629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1192510" y="4481703"/>
              <a:ext cx="237490" cy="2376805"/>
            </a:xfrm>
            <a:custGeom>
              <a:avLst/>
              <a:gdLst/>
              <a:ahLst/>
              <a:cxnLst/>
              <a:rect l="l" t="t" r="r" b="b"/>
              <a:pathLst>
                <a:path w="237490" h="2376804">
                  <a:moveTo>
                    <a:pt x="237490" y="0"/>
                  </a:moveTo>
                  <a:lnTo>
                    <a:pt x="0" y="0"/>
                  </a:lnTo>
                  <a:lnTo>
                    <a:pt x="0" y="2376297"/>
                  </a:lnTo>
                  <a:lnTo>
                    <a:pt x="237490" y="2376297"/>
                  </a:lnTo>
                </a:path>
              </a:pathLst>
            </a:custGeom>
            <a:ln w="9525">
              <a:solidFill>
                <a:srgbClr val="46AA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0589514" y="6431991"/>
            <a:ext cx="21462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68686"/>
                </a:solidFill>
                <a:latin typeface="Verdana"/>
                <a:cs typeface="Verdana"/>
              </a:rPr>
              <a:t>16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27401" y="6535318"/>
            <a:ext cx="5699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006DC0"/>
                </a:solidFill>
                <a:latin typeface="Verdana"/>
                <a:cs typeface="Verdana"/>
              </a:rPr>
              <a:t>Vel</a:t>
            </a:r>
            <a:r>
              <a:rPr sz="1200" spc="-105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006DC0"/>
                </a:solidFill>
                <a:latin typeface="Verdana"/>
                <a:cs typeface="Verdana"/>
              </a:rPr>
              <a:t>Tech</a:t>
            </a:r>
            <a:r>
              <a:rPr sz="1200" spc="-105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6DC0"/>
                </a:solidFill>
                <a:latin typeface="Verdana"/>
                <a:cs typeface="Verdana"/>
              </a:rPr>
              <a:t>Rangarajan</a:t>
            </a:r>
            <a:r>
              <a:rPr sz="1200" spc="7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70" dirty="0">
                <a:solidFill>
                  <a:srgbClr val="006DC0"/>
                </a:solidFill>
                <a:latin typeface="Verdana"/>
                <a:cs typeface="Verdana"/>
              </a:rPr>
              <a:t>Dr.</a:t>
            </a:r>
            <a:r>
              <a:rPr sz="1200" spc="-25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006DC0"/>
                </a:solidFill>
                <a:latin typeface="Verdana"/>
                <a:cs typeface="Verdana"/>
              </a:rPr>
              <a:t>Sagunthala</a:t>
            </a:r>
            <a:r>
              <a:rPr sz="1200" spc="3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45" dirty="0">
                <a:solidFill>
                  <a:srgbClr val="006DC0"/>
                </a:solidFill>
                <a:latin typeface="Verdana"/>
                <a:cs typeface="Verdana"/>
              </a:rPr>
              <a:t>R&amp;D</a:t>
            </a:r>
            <a:r>
              <a:rPr sz="1200" spc="-15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100" dirty="0">
                <a:solidFill>
                  <a:srgbClr val="006DC0"/>
                </a:solidFill>
                <a:latin typeface="Verdana"/>
                <a:cs typeface="Verdana"/>
              </a:rPr>
              <a:t>Institute</a:t>
            </a:r>
            <a:r>
              <a:rPr sz="1200" spc="-12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6DC0"/>
                </a:solidFill>
                <a:latin typeface="Verdana"/>
                <a:cs typeface="Verdana"/>
              </a:rPr>
              <a:t>of</a:t>
            </a:r>
            <a:r>
              <a:rPr sz="1200" spc="-8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006DC0"/>
                </a:solidFill>
                <a:latin typeface="Verdana"/>
                <a:cs typeface="Verdana"/>
              </a:rPr>
              <a:t>Science</a:t>
            </a:r>
            <a:r>
              <a:rPr sz="1200" spc="-7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6DC0"/>
                </a:solidFill>
                <a:latin typeface="Verdana"/>
                <a:cs typeface="Verdana"/>
              </a:rPr>
              <a:t>and</a:t>
            </a:r>
            <a:r>
              <a:rPr sz="1200" spc="-2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6DC0"/>
                </a:solidFill>
                <a:latin typeface="Verdana"/>
                <a:cs typeface="Verdana"/>
              </a:rPr>
              <a:t>Technology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226" rIns="0" bIns="0" rtlCol="0">
            <a:spAutoFit/>
          </a:bodyPr>
          <a:lstStyle/>
          <a:p>
            <a:pPr marL="3743325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4222" y="1507362"/>
            <a:ext cx="9914255" cy="37960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311785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  <a:tab pos="410209" algn="l"/>
              </a:tabLst>
            </a:pPr>
            <a:r>
              <a:rPr sz="1600" dirty="0">
                <a:latin typeface="Arial MT"/>
                <a:cs typeface="Arial MT"/>
              </a:rPr>
              <a:t>	</a:t>
            </a:r>
            <a:r>
              <a:rPr sz="1600" spc="-85" dirty="0">
                <a:latin typeface="Verdana"/>
                <a:cs typeface="Verdana"/>
              </a:rPr>
              <a:t>S.</a:t>
            </a:r>
            <a:r>
              <a:rPr sz="1600" spc="-415" dirty="0">
                <a:latin typeface="Verdana"/>
                <a:cs typeface="Verdana"/>
              </a:rPr>
              <a:t> </a:t>
            </a:r>
            <a:r>
              <a:rPr sz="1600" spc="-90" dirty="0">
                <a:latin typeface="Verdana"/>
                <a:cs typeface="Verdana"/>
              </a:rPr>
              <a:t>Kumar</a:t>
            </a:r>
            <a:r>
              <a:rPr sz="1600" spc="-15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and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20" dirty="0">
                <a:latin typeface="Verdana"/>
                <a:cs typeface="Verdana"/>
              </a:rPr>
              <a:t>A.</a:t>
            </a:r>
            <a:r>
              <a:rPr sz="1600" spc="-100" dirty="0">
                <a:latin typeface="Verdana"/>
                <a:cs typeface="Verdana"/>
              </a:rPr>
              <a:t> </a:t>
            </a:r>
            <a:r>
              <a:rPr sz="1600" spc="-80" dirty="0">
                <a:latin typeface="Verdana"/>
                <a:cs typeface="Verdana"/>
              </a:rPr>
              <a:t>Jasuja,</a:t>
            </a:r>
            <a:r>
              <a:rPr sz="1600" spc="-140" dirty="0">
                <a:latin typeface="Verdana"/>
                <a:cs typeface="Verdana"/>
              </a:rPr>
              <a:t> </a:t>
            </a:r>
            <a:r>
              <a:rPr sz="1600" spc="-60" dirty="0">
                <a:latin typeface="Verdana"/>
                <a:cs typeface="Verdana"/>
              </a:rPr>
              <a:t>”Air</a:t>
            </a:r>
            <a:r>
              <a:rPr sz="1600" spc="-120" dirty="0">
                <a:latin typeface="Verdana"/>
                <a:cs typeface="Verdana"/>
              </a:rPr>
              <a:t> </a:t>
            </a:r>
            <a:r>
              <a:rPr sz="1600" spc="-65" dirty="0">
                <a:latin typeface="Verdana"/>
                <a:cs typeface="Verdana"/>
              </a:rPr>
              <a:t>quality</a:t>
            </a:r>
            <a:r>
              <a:rPr sz="1600" spc="-85" dirty="0">
                <a:latin typeface="Verdana"/>
                <a:cs typeface="Verdana"/>
              </a:rPr>
              <a:t> </a:t>
            </a:r>
            <a:r>
              <a:rPr sz="1600" spc="-65" dirty="0">
                <a:latin typeface="Verdana"/>
                <a:cs typeface="Verdana"/>
              </a:rPr>
              <a:t>monitoring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spc="-110" dirty="0">
                <a:latin typeface="Verdana"/>
                <a:cs typeface="Verdana"/>
              </a:rPr>
              <a:t>system</a:t>
            </a:r>
            <a:r>
              <a:rPr sz="1600" spc="-229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based</a:t>
            </a:r>
            <a:r>
              <a:rPr sz="1600" spc="-1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on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spc="-110" dirty="0">
                <a:latin typeface="Verdana"/>
                <a:cs typeface="Verdana"/>
              </a:rPr>
              <a:t>IoT</a:t>
            </a:r>
            <a:r>
              <a:rPr sz="1600" spc="-420" dirty="0">
                <a:latin typeface="Verdana"/>
                <a:cs typeface="Verdana"/>
              </a:rPr>
              <a:t> </a:t>
            </a:r>
            <a:r>
              <a:rPr sz="1600" spc="-85" dirty="0">
                <a:latin typeface="Verdana"/>
                <a:cs typeface="Verdana"/>
              </a:rPr>
              <a:t>using</a:t>
            </a:r>
            <a:r>
              <a:rPr sz="1600" spc="-155" dirty="0">
                <a:latin typeface="Verdana"/>
                <a:cs typeface="Verdana"/>
              </a:rPr>
              <a:t> </a:t>
            </a:r>
            <a:r>
              <a:rPr sz="1600" spc="-80" dirty="0">
                <a:latin typeface="Verdana"/>
                <a:cs typeface="Verdana"/>
              </a:rPr>
              <a:t>Raspberry</a:t>
            </a:r>
            <a:r>
              <a:rPr sz="1600" spc="-125" dirty="0">
                <a:latin typeface="Verdana"/>
                <a:cs typeface="Verdana"/>
              </a:rPr>
              <a:t> </a:t>
            </a:r>
            <a:r>
              <a:rPr sz="1600" spc="-70" dirty="0">
                <a:latin typeface="Verdana"/>
                <a:cs typeface="Verdana"/>
              </a:rPr>
              <a:t>Pi,”</a:t>
            </a:r>
            <a:r>
              <a:rPr sz="1600" spc="-150" dirty="0">
                <a:latin typeface="Verdana"/>
                <a:cs typeface="Verdana"/>
              </a:rPr>
              <a:t> </a:t>
            </a:r>
            <a:r>
              <a:rPr sz="1600" spc="-45" dirty="0">
                <a:latin typeface="Verdana"/>
                <a:cs typeface="Verdana"/>
              </a:rPr>
              <a:t>in</a:t>
            </a:r>
            <a:r>
              <a:rPr sz="1600" spc="-19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Proc. </a:t>
            </a:r>
            <a:r>
              <a:rPr sz="1600" spc="-85" dirty="0">
                <a:latin typeface="Verdana"/>
                <a:cs typeface="Verdana"/>
              </a:rPr>
              <a:t>2017</a:t>
            </a:r>
            <a:r>
              <a:rPr sz="1600" spc="-345" dirty="0">
                <a:latin typeface="Verdana"/>
                <a:cs typeface="Verdana"/>
              </a:rPr>
              <a:t> </a:t>
            </a:r>
            <a:r>
              <a:rPr sz="1600" spc="-114" dirty="0">
                <a:latin typeface="Verdana"/>
                <a:cs typeface="Verdana"/>
              </a:rPr>
              <a:t>Int.</a:t>
            </a:r>
            <a:r>
              <a:rPr sz="1600" spc="-41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Conf.</a:t>
            </a:r>
            <a:r>
              <a:rPr sz="1600" spc="-100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Computing,</a:t>
            </a:r>
            <a:r>
              <a:rPr sz="1600" spc="-15" dirty="0">
                <a:latin typeface="Verdana"/>
                <a:cs typeface="Verdana"/>
              </a:rPr>
              <a:t> </a:t>
            </a:r>
            <a:r>
              <a:rPr sz="1600" spc="-35" dirty="0">
                <a:latin typeface="Verdana"/>
                <a:cs typeface="Verdana"/>
              </a:rPr>
              <a:t>Communication</a:t>
            </a:r>
            <a:r>
              <a:rPr sz="1600" spc="-10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and</a:t>
            </a:r>
            <a:r>
              <a:rPr sz="1600" spc="-30" dirty="0">
                <a:latin typeface="Verdana"/>
                <a:cs typeface="Verdana"/>
              </a:rPr>
              <a:t> Automation</a:t>
            </a:r>
            <a:r>
              <a:rPr sz="1600" spc="-80" dirty="0">
                <a:latin typeface="Verdana"/>
                <a:cs typeface="Verdana"/>
              </a:rPr>
              <a:t> </a:t>
            </a:r>
            <a:r>
              <a:rPr sz="1600" spc="-20" dirty="0">
                <a:latin typeface="Verdana"/>
                <a:cs typeface="Verdana"/>
              </a:rPr>
              <a:t>(ICCCA),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spc="-105" dirty="0">
                <a:latin typeface="Verdana"/>
                <a:cs typeface="Verdana"/>
              </a:rPr>
              <a:t>2017.</a:t>
            </a:r>
            <a:r>
              <a:rPr sz="1600" spc="-385" dirty="0">
                <a:latin typeface="Verdana"/>
                <a:cs typeface="Verdana"/>
              </a:rPr>
              <a:t> </a:t>
            </a:r>
            <a:r>
              <a:rPr sz="1600" spc="-50" dirty="0">
                <a:latin typeface="Verdana"/>
                <a:cs typeface="Verdana"/>
              </a:rPr>
              <a:t>v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80"/>
              </a:spcBef>
              <a:buFont typeface="Arial MT"/>
              <a:buChar char="•"/>
            </a:pPr>
            <a:endParaRPr sz="16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sz="1600" spc="-50" dirty="0">
                <a:latin typeface="Verdana"/>
                <a:cs typeface="Verdana"/>
              </a:rPr>
              <a:t>P.</a:t>
            </a:r>
            <a:r>
              <a:rPr sz="1600" spc="-225" dirty="0">
                <a:latin typeface="Verdana"/>
                <a:cs typeface="Verdana"/>
              </a:rPr>
              <a:t> </a:t>
            </a:r>
            <a:r>
              <a:rPr sz="1600" spc="-130" dirty="0">
                <a:latin typeface="Verdana"/>
                <a:cs typeface="Verdana"/>
              </a:rPr>
              <a:t>Suresh</a:t>
            </a:r>
            <a:r>
              <a:rPr sz="1600" spc="-229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et</a:t>
            </a:r>
            <a:r>
              <a:rPr sz="1600" spc="-70" dirty="0">
                <a:latin typeface="Verdana"/>
                <a:cs typeface="Verdana"/>
              </a:rPr>
              <a:t> </a:t>
            </a:r>
            <a:r>
              <a:rPr sz="1600" spc="-85" dirty="0">
                <a:latin typeface="Verdana"/>
                <a:cs typeface="Verdana"/>
              </a:rPr>
              <a:t>al.,</a:t>
            </a:r>
            <a:r>
              <a:rPr sz="1600" spc="-200" dirty="0">
                <a:latin typeface="Verdana"/>
                <a:cs typeface="Verdana"/>
              </a:rPr>
              <a:t> </a:t>
            </a:r>
            <a:r>
              <a:rPr sz="1600" spc="-80" dirty="0">
                <a:latin typeface="Verdana"/>
                <a:cs typeface="Verdana"/>
              </a:rPr>
              <a:t>”Real-</a:t>
            </a:r>
            <a:r>
              <a:rPr sz="1600" spc="-60" dirty="0">
                <a:latin typeface="Verdana"/>
                <a:cs typeface="Verdana"/>
              </a:rPr>
              <a:t>time</a:t>
            </a:r>
            <a:r>
              <a:rPr sz="1600" spc="-95" dirty="0">
                <a:latin typeface="Verdana"/>
                <a:cs typeface="Verdana"/>
              </a:rPr>
              <a:t> </a:t>
            </a:r>
            <a:r>
              <a:rPr sz="1600" spc="-60" dirty="0">
                <a:latin typeface="Verdana"/>
                <a:cs typeface="Verdana"/>
              </a:rPr>
              <a:t>environmental</a:t>
            </a:r>
            <a:r>
              <a:rPr sz="1600" spc="-95" dirty="0">
                <a:latin typeface="Verdana"/>
                <a:cs typeface="Verdana"/>
              </a:rPr>
              <a:t> </a:t>
            </a:r>
            <a:r>
              <a:rPr sz="1600" spc="-75" dirty="0">
                <a:latin typeface="Verdana"/>
                <a:cs typeface="Verdana"/>
              </a:rPr>
              <a:t>monitoring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spc="-110" dirty="0">
                <a:latin typeface="Verdana"/>
                <a:cs typeface="Verdana"/>
              </a:rPr>
              <a:t>system</a:t>
            </a:r>
            <a:r>
              <a:rPr sz="1600" spc="-210" dirty="0">
                <a:latin typeface="Verdana"/>
                <a:cs typeface="Verdana"/>
              </a:rPr>
              <a:t> </a:t>
            </a:r>
            <a:r>
              <a:rPr sz="1600" spc="-90" dirty="0">
                <a:latin typeface="Verdana"/>
                <a:cs typeface="Verdana"/>
              </a:rPr>
              <a:t>using</a:t>
            </a:r>
            <a:r>
              <a:rPr sz="1600" spc="-13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cloud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computing,”</a:t>
            </a:r>
            <a:r>
              <a:rPr sz="1600" spc="70" dirty="0">
                <a:latin typeface="Verdana"/>
                <a:cs typeface="Verdana"/>
              </a:rPr>
              <a:t> </a:t>
            </a:r>
            <a:r>
              <a:rPr sz="1600" spc="-40" dirty="0">
                <a:latin typeface="Verdana"/>
                <a:cs typeface="Verdana"/>
              </a:rPr>
              <a:t>in</a:t>
            </a:r>
            <a:r>
              <a:rPr sz="1600" spc="-210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Proc.</a:t>
            </a:r>
            <a:r>
              <a:rPr sz="1600" spc="-65" dirty="0">
                <a:latin typeface="Verdana"/>
                <a:cs typeface="Verdana"/>
              </a:rPr>
              <a:t> </a:t>
            </a:r>
            <a:r>
              <a:rPr sz="1600" spc="-20" dirty="0">
                <a:latin typeface="Verdana"/>
                <a:cs typeface="Verdana"/>
              </a:rPr>
              <a:t>2018</a:t>
            </a:r>
            <a:endParaRPr sz="16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</a:pPr>
            <a:r>
              <a:rPr sz="1600" spc="-114" dirty="0">
                <a:latin typeface="Verdana"/>
                <a:cs typeface="Verdana"/>
              </a:rPr>
              <a:t>Int.</a:t>
            </a:r>
            <a:r>
              <a:rPr sz="1600" spc="-38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Conf.</a:t>
            </a:r>
            <a:r>
              <a:rPr sz="1600" spc="-8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Communication</a:t>
            </a:r>
            <a:r>
              <a:rPr sz="1600" spc="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and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85" dirty="0">
                <a:latin typeface="Verdana"/>
                <a:cs typeface="Verdana"/>
              </a:rPr>
              <a:t>Signal</a:t>
            </a:r>
            <a:r>
              <a:rPr sz="1600" spc="-185" dirty="0">
                <a:latin typeface="Verdana"/>
                <a:cs typeface="Verdana"/>
              </a:rPr>
              <a:t> </a:t>
            </a:r>
            <a:r>
              <a:rPr sz="1600" spc="-70" dirty="0">
                <a:latin typeface="Verdana"/>
                <a:cs typeface="Verdana"/>
              </a:rPr>
              <a:t>Processing,</a:t>
            </a:r>
            <a:r>
              <a:rPr sz="1600" spc="-110" dirty="0">
                <a:latin typeface="Verdana"/>
                <a:cs typeface="Verdana"/>
              </a:rPr>
              <a:t> </a:t>
            </a:r>
            <a:r>
              <a:rPr sz="1600" spc="-100" dirty="0">
                <a:latin typeface="Verdana"/>
                <a:cs typeface="Verdana"/>
              </a:rPr>
              <a:t>2018.</a:t>
            </a:r>
            <a:r>
              <a:rPr sz="1600" spc="-400" dirty="0">
                <a:latin typeface="Verdana"/>
                <a:cs typeface="Verdana"/>
              </a:rPr>
              <a:t> </a:t>
            </a:r>
            <a:r>
              <a:rPr sz="1600" spc="-50" dirty="0">
                <a:latin typeface="Verdana"/>
                <a:cs typeface="Verdana"/>
              </a:rPr>
              <a:t>v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600">
              <a:latin typeface="Verdana"/>
              <a:cs typeface="Verdana"/>
            </a:endParaRPr>
          </a:p>
          <a:p>
            <a:pPr marL="355600" marR="508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1600" spc="-40" dirty="0">
                <a:latin typeface="Verdana"/>
                <a:cs typeface="Verdana"/>
              </a:rPr>
              <a:t>J.</a:t>
            </a:r>
            <a:r>
              <a:rPr sz="1600" spc="-155" dirty="0">
                <a:latin typeface="Verdana"/>
                <a:cs typeface="Verdana"/>
              </a:rPr>
              <a:t> </a:t>
            </a:r>
            <a:r>
              <a:rPr sz="1600" spc="-65" dirty="0">
                <a:latin typeface="Verdana"/>
                <a:cs typeface="Verdana"/>
              </a:rPr>
              <a:t>Yick,</a:t>
            </a:r>
            <a:r>
              <a:rPr sz="1600" spc="-150" dirty="0">
                <a:latin typeface="Verdana"/>
                <a:cs typeface="Verdana"/>
              </a:rPr>
              <a:t> </a:t>
            </a:r>
            <a:r>
              <a:rPr sz="1600" spc="-75" dirty="0">
                <a:latin typeface="Verdana"/>
                <a:cs typeface="Verdana"/>
              </a:rPr>
              <a:t>B.</a:t>
            </a:r>
            <a:r>
              <a:rPr sz="1600" spc="-315" dirty="0">
                <a:latin typeface="Verdana"/>
                <a:cs typeface="Verdana"/>
              </a:rPr>
              <a:t> </a:t>
            </a:r>
            <a:r>
              <a:rPr sz="1600" spc="-70" dirty="0">
                <a:latin typeface="Verdana"/>
                <a:cs typeface="Verdana"/>
              </a:rPr>
              <a:t>Mukherjee,</a:t>
            </a:r>
            <a:r>
              <a:rPr sz="1600" spc="-8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and</a:t>
            </a:r>
            <a:r>
              <a:rPr sz="1600" spc="35" dirty="0">
                <a:latin typeface="Verdana"/>
                <a:cs typeface="Verdana"/>
              </a:rPr>
              <a:t> </a:t>
            </a:r>
            <a:r>
              <a:rPr sz="1600" spc="-55" dirty="0">
                <a:latin typeface="Verdana"/>
                <a:cs typeface="Verdana"/>
              </a:rPr>
              <a:t>D.</a:t>
            </a:r>
            <a:r>
              <a:rPr sz="1600" spc="-200" dirty="0">
                <a:latin typeface="Verdana"/>
                <a:cs typeface="Verdana"/>
              </a:rPr>
              <a:t> </a:t>
            </a:r>
            <a:r>
              <a:rPr sz="1600" spc="-50" dirty="0">
                <a:latin typeface="Verdana"/>
                <a:cs typeface="Verdana"/>
              </a:rPr>
              <a:t>Ghosal,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spc="-90" dirty="0">
                <a:latin typeface="Verdana"/>
                <a:cs typeface="Verdana"/>
              </a:rPr>
              <a:t>”Wireless</a:t>
            </a:r>
            <a:r>
              <a:rPr sz="1600" spc="-185" dirty="0">
                <a:latin typeface="Verdana"/>
                <a:cs typeface="Verdana"/>
              </a:rPr>
              <a:t> </a:t>
            </a:r>
            <a:r>
              <a:rPr sz="1600" spc="-90" dirty="0">
                <a:latin typeface="Verdana"/>
                <a:cs typeface="Verdana"/>
              </a:rPr>
              <a:t>sensor</a:t>
            </a:r>
            <a:r>
              <a:rPr sz="1600" spc="-229" dirty="0">
                <a:latin typeface="Verdana"/>
                <a:cs typeface="Verdana"/>
              </a:rPr>
              <a:t> </a:t>
            </a:r>
            <a:r>
              <a:rPr sz="1600" spc="-70" dirty="0">
                <a:latin typeface="Verdana"/>
                <a:cs typeface="Verdana"/>
              </a:rPr>
              <a:t>network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spc="-90" dirty="0">
                <a:latin typeface="Verdana"/>
                <a:cs typeface="Verdana"/>
              </a:rPr>
              <a:t>survey,”</a:t>
            </a:r>
            <a:r>
              <a:rPr sz="1600" spc="-254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Computer</a:t>
            </a:r>
            <a:r>
              <a:rPr sz="1600" spc="50" dirty="0">
                <a:latin typeface="Verdana"/>
                <a:cs typeface="Verdana"/>
              </a:rPr>
              <a:t> </a:t>
            </a:r>
            <a:r>
              <a:rPr sz="1600" spc="-95" dirty="0">
                <a:latin typeface="Verdana"/>
                <a:cs typeface="Verdana"/>
              </a:rPr>
              <a:t>Networks,</a:t>
            </a:r>
            <a:r>
              <a:rPr sz="1600" spc="-135" dirty="0">
                <a:latin typeface="Verdana"/>
                <a:cs typeface="Verdana"/>
              </a:rPr>
              <a:t> </a:t>
            </a:r>
            <a:r>
              <a:rPr sz="1600" spc="-65" dirty="0">
                <a:latin typeface="Verdana"/>
                <a:cs typeface="Verdana"/>
              </a:rPr>
              <a:t>vol.</a:t>
            </a:r>
            <a:r>
              <a:rPr sz="1600" spc="-210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52, </a:t>
            </a:r>
            <a:r>
              <a:rPr sz="1600" spc="-50" dirty="0">
                <a:latin typeface="Verdana"/>
                <a:cs typeface="Verdana"/>
              </a:rPr>
              <a:t>no.</a:t>
            </a:r>
            <a:r>
              <a:rPr sz="1600" spc="-95" dirty="0">
                <a:latin typeface="Verdana"/>
                <a:cs typeface="Verdana"/>
              </a:rPr>
              <a:t> </a:t>
            </a:r>
            <a:r>
              <a:rPr sz="1600" spc="-85" dirty="0">
                <a:latin typeface="Verdana"/>
                <a:cs typeface="Verdana"/>
              </a:rPr>
              <a:t>12,</a:t>
            </a:r>
            <a:r>
              <a:rPr sz="1600" spc="-33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pp.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150" dirty="0">
                <a:latin typeface="Verdana"/>
                <a:cs typeface="Verdana"/>
              </a:rPr>
              <a:t>2292–</a:t>
            </a:r>
            <a:r>
              <a:rPr sz="1600" spc="-110" dirty="0">
                <a:latin typeface="Verdana"/>
                <a:cs typeface="Verdana"/>
              </a:rPr>
              <a:t>2330,2008.</a:t>
            </a:r>
            <a:r>
              <a:rPr sz="1600" spc="-340" dirty="0">
                <a:latin typeface="Verdana"/>
                <a:cs typeface="Verdana"/>
              </a:rPr>
              <a:t> </a:t>
            </a:r>
            <a:r>
              <a:rPr sz="1600" spc="-50" dirty="0">
                <a:latin typeface="Verdana"/>
                <a:cs typeface="Verdana"/>
              </a:rPr>
              <a:t>v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75"/>
              </a:spcBef>
              <a:buFont typeface="Arial MT"/>
              <a:buChar char="•"/>
            </a:pPr>
            <a:endParaRPr sz="1600">
              <a:latin typeface="Verdana"/>
              <a:cs typeface="Verdana"/>
            </a:endParaRPr>
          </a:p>
          <a:p>
            <a:pPr marL="355600" marR="333375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1600" spc="-20" dirty="0">
                <a:latin typeface="Verdana"/>
                <a:cs typeface="Verdana"/>
              </a:rPr>
              <a:t>M.</a:t>
            </a:r>
            <a:r>
              <a:rPr sz="1600" spc="-14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Aazam</a:t>
            </a:r>
            <a:r>
              <a:rPr sz="1600" spc="-13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and</a:t>
            </a:r>
            <a:r>
              <a:rPr sz="1600" spc="-140" dirty="0">
                <a:latin typeface="Verdana"/>
                <a:cs typeface="Verdana"/>
              </a:rPr>
              <a:t> </a:t>
            </a:r>
            <a:r>
              <a:rPr sz="1600" spc="-65" dirty="0">
                <a:latin typeface="Verdana"/>
                <a:cs typeface="Verdana"/>
              </a:rPr>
              <a:t>E.</a:t>
            </a:r>
            <a:r>
              <a:rPr sz="1600" spc="-295" dirty="0">
                <a:latin typeface="Verdana"/>
                <a:cs typeface="Verdana"/>
              </a:rPr>
              <a:t> </a:t>
            </a:r>
            <a:r>
              <a:rPr sz="1600" spc="-85" dirty="0">
                <a:latin typeface="Verdana"/>
                <a:cs typeface="Verdana"/>
              </a:rPr>
              <a:t>Huh,</a:t>
            </a:r>
            <a:r>
              <a:rPr sz="1600" spc="-254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”Fog</a:t>
            </a:r>
            <a:r>
              <a:rPr sz="1600" spc="-1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computing</a:t>
            </a:r>
            <a:r>
              <a:rPr sz="1600" spc="-9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and</a:t>
            </a:r>
            <a:r>
              <a:rPr sz="1600" spc="-75" dirty="0">
                <a:latin typeface="Verdana"/>
                <a:cs typeface="Verdana"/>
              </a:rPr>
              <a:t> </a:t>
            </a:r>
            <a:r>
              <a:rPr sz="1600" spc="-95" dirty="0">
                <a:latin typeface="Verdana"/>
                <a:cs typeface="Verdana"/>
              </a:rPr>
              <a:t>smart</a:t>
            </a:r>
            <a:r>
              <a:rPr sz="1600" spc="-21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gateway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based</a:t>
            </a:r>
            <a:r>
              <a:rPr sz="1600" spc="-9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communication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55" dirty="0">
                <a:latin typeface="Verdana"/>
                <a:cs typeface="Verdana"/>
              </a:rPr>
              <a:t>for</a:t>
            </a:r>
            <a:r>
              <a:rPr sz="1600" spc="-19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cloud</a:t>
            </a:r>
            <a:r>
              <a:rPr sz="1600" spc="-70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of </a:t>
            </a:r>
            <a:r>
              <a:rPr sz="1600" spc="-85" dirty="0">
                <a:latin typeface="Verdana"/>
                <a:cs typeface="Verdana"/>
              </a:rPr>
              <a:t>things,”</a:t>
            </a:r>
            <a:r>
              <a:rPr sz="1600" spc="-95" dirty="0">
                <a:latin typeface="Verdana"/>
                <a:cs typeface="Verdana"/>
              </a:rPr>
              <a:t> </a:t>
            </a:r>
            <a:r>
              <a:rPr sz="1600" spc="-45" dirty="0">
                <a:latin typeface="Verdana"/>
                <a:cs typeface="Verdana"/>
              </a:rPr>
              <a:t>in</a:t>
            </a:r>
            <a:r>
              <a:rPr sz="1600" spc="-225" dirty="0">
                <a:latin typeface="Verdana"/>
                <a:cs typeface="Verdana"/>
              </a:rPr>
              <a:t> </a:t>
            </a:r>
            <a:r>
              <a:rPr sz="1600" spc="-30" dirty="0">
                <a:latin typeface="Verdana"/>
                <a:cs typeface="Verdana"/>
              </a:rPr>
              <a:t>Proc.</a:t>
            </a:r>
            <a:r>
              <a:rPr sz="1600" spc="-80" dirty="0">
                <a:latin typeface="Verdana"/>
                <a:cs typeface="Verdana"/>
              </a:rPr>
              <a:t> </a:t>
            </a:r>
            <a:r>
              <a:rPr sz="1600" spc="-90" dirty="0">
                <a:latin typeface="Verdana"/>
                <a:cs typeface="Verdana"/>
              </a:rPr>
              <a:t>Future</a:t>
            </a:r>
            <a:r>
              <a:rPr sz="1600" spc="-200" dirty="0">
                <a:latin typeface="Verdana"/>
                <a:cs typeface="Verdana"/>
              </a:rPr>
              <a:t> </a:t>
            </a:r>
            <a:r>
              <a:rPr sz="1600" spc="-90" dirty="0">
                <a:latin typeface="Verdana"/>
                <a:cs typeface="Verdana"/>
              </a:rPr>
              <a:t>Internet</a:t>
            </a:r>
            <a:r>
              <a:rPr sz="1600" spc="-27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of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spc="-120" dirty="0">
                <a:latin typeface="Verdana"/>
                <a:cs typeface="Verdana"/>
              </a:rPr>
              <a:t>Things</a:t>
            </a:r>
            <a:r>
              <a:rPr sz="1600" spc="-254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and</a:t>
            </a:r>
            <a:r>
              <a:rPr sz="1600" spc="2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Cloud, </a:t>
            </a:r>
            <a:r>
              <a:rPr sz="1600" spc="-100" dirty="0">
                <a:latin typeface="Verdana"/>
                <a:cs typeface="Verdana"/>
              </a:rPr>
              <a:t>2014.</a:t>
            </a:r>
            <a:r>
              <a:rPr sz="1600" spc="-365" dirty="0">
                <a:latin typeface="Verdana"/>
                <a:cs typeface="Verdana"/>
              </a:rPr>
              <a:t> </a:t>
            </a:r>
            <a:r>
              <a:rPr sz="1600" spc="-50" dirty="0">
                <a:latin typeface="Verdana"/>
                <a:cs typeface="Verdana"/>
              </a:rPr>
              <a:t>v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85"/>
              </a:spcBef>
              <a:buFont typeface="Arial MT"/>
              <a:buChar char="•"/>
            </a:pPr>
            <a:endParaRPr sz="1600">
              <a:latin typeface="Verdana"/>
              <a:cs typeface="Verdana"/>
            </a:endParaRPr>
          </a:p>
          <a:p>
            <a:pPr marL="355600" marR="198755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1600" spc="-70" dirty="0">
                <a:latin typeface="Verdana"/>
                <a:cs typeface="Verdana"/>
              </a:rPr>
              <a:t>R.</a:t>
            </a:r>
            <a:r>
              <a:rPr sz="1600" spc="-330" dirty="0">
                <a:latin typeface="Verdana"/>
                <a:cs typeface="Verdana"/>
              </a:rPr>
              <a:t> </a:t>
            </a:r>
            <a:r>
              <a:rPr sz="1600" spc="-65" dirty="0">
                <a:latin typeface="Verdana"/>
                <a:cs typeface="Verdana"/>
              </a:rPr>
              <a:t>K.</a:t>
            </a:r>
            <a:r>
              <a:rPr sz="1600" spc="-315" dirty="0">
                <a:latin typeface="Verdana"/>
                <a:cs typeface="Verdana"/>
              </a:rPr>
              <a:t> </a:t>
            </a:r>
            <a:r>
              <a:rPr sz="1600" spc="-35" dirty="0">
                <a:latin typeface="Verdana"/>
                <a:cs typeface="Verdana"/>
              </a:rPr>
              <a:t>Kodali</a:t>
            </a:r>
            <a:r>
              <a:rPr sz="1600" spc="-10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and</a:t>
            </a:r>
            <a:r>
              <a:rPr sz="1600" spc="-10" dirty="0">
                <a:latin typeface="Verdana"/>
                <a:cs typeface="Verdana"/>
              </a:rPr>
              <a:t> </a:t>
            </a:r>
            <a:r>
              <a:rPr sz="1600" spc="-85" dirty="0">
                <a:latin typeface="Verdana"/>
                <a:cs typeface="Verdana"/>
              </a:rPr>
              <a:t>S.</a:t>
            </a:r>
            <a:r>
              <a:rPr sz="1600" spc="-409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Mandal,</a:t>
            </a:r>
            <a:r>
              <a:rPr sz="1600" spc="-15" dirty="0">
                <a:latin typeface="Verdana"/>
                <a:cs typeface="Verdana"/>
              </a:rPr>
              <a:t> </a:t>
            </a:r>
            <a:r>
              <a:rPr sz="1600" spc="-95" dirty="0">
                <a:latin typeface="Verdana"/>
                <a:cs typeface="Verdana"/>
              </a:rPr>
              <a:t>”IoT</a:t>
            </a:r>
            <a:r>
              <a:rPr sz="1600" spc="-34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based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spc="-60" dirty="0">
                <a:latin typeface="Verdana"/>
                <a:cs typeface="Verdana"/>
              </a:rPr>
              <a:t>environmental</a:t>
            </a:r>
            <a:r>
              <a:rPr sz="1600" spc="-110" dirty="0">
                <a:latin typeface="Verdana"/>
                <a:cs typeface="Verdana"/>
              </a:rPr>
              <a:t> </a:t>
            </a:r>
            <a:r>
              <a:rPr sz="1600" spc="-65" dirty="0">
                <a:latin typeface="Verdana"/>
                <a:cs typeface="Verdana"/>
              </a:rPr>
              <a:t>monitoring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spc="-114" dirty="0">
                <a:latin typeface="Verdana"/>
                <a:cs typeface="Verdana"/>
              </a:rPr>
              <a:t>sys</a:t>
            </a:r>
            <a:r>
              <a:rPr sz="1600" spc="-335" dirty="0">
                <a:latin typeface="Verdana"/>
                <a:cs typeface="Verdana"/>
              </a:rPr>
              <a:t> </a:t>
            </a:r>
            <a:r>
              <a:rPr sz="1600" spc="-60" dirty="0">
                <a:latin typeface="Verdana"/>
                <a:cs typeface="Verdana"/>
              </a:rPr>
              <a:t>tem,”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spc="-45" dirty="0">
                <a:latin typeface="Verdana"/>
                <a:cs typeface="Verdana"/>
              </a:rPr>
              <a:t>in</a:t>
            </a:r>
            <a:r>
              <a:rPr sz="1600" spc="-215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Proc.</a:t>
            </a:r>
            <a:r>
              <a:rPr sz="1600" spc="-70" dirty="0">
                <a:latin typeface="Verdana"/>
                <a:cs typeface="Verdana"/>
              </a:rPr>
              <a:t> </a:t>
            </a:r>
            <a:r>
              <a:rPr sz="1600" spc="-85" dirty="0">
                <a:latin typeface="Verdana"/>
                <a:cs typeface="Verdana"/>
              </a:rPr>
              <a:t>2016</a:t>
            </a:r>
            <a:r>
              <a:rPr sz="1600" spc="-375" dirty="0">
                <a:latin typeface="Verdana"/>
                <a:cs typeface="Verdana"/>
              </a:rPr>
              <a:t> </a:t>
            </a:r>
            <a:r>
              <a:rPr sz="1600" spc="-105" dirty="0">
                <a:latin typeface="Verdana"/>
                <a:cs typeface="Verdana"/>
              </a:rPr>
              <a:t>Int.</a:t>
            </a:r>
            <a:r>
              <a:rPr sz="1600" spc="-40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Conf. </a:t>
            </a:r>
            <a:r>
              <a:rPr sz="1600" spc="-60" dirty="0">
                <a:latin typeface="Verdana"/>
                <a:cs typeface="Verdana"/>
              </a:rPr>
              <a:t>Control,</a:t>
            </a:r>
            <a:r>
              <a:rPr sz="1600" spc="-85" dirty="0">
                <a:latin typeface="Verdana"/>
                <a:cs typeface="Verdana"/>
              </a:rPr>
              <a:t> </a:t>
            </a:r>
            <a:r>
              <a:rPr sz="1600" spc="-105" dirty="0">
                <a:latin typeface="Verdana"/>
                <a:cs typeface="Verdana"/>
              </a:rPr>
              <a:t>Instrumentation,</a:t>
            </a:r>
            <a:r>
              <a:rPr sz="1600" spc="-12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Communication</a:t>
            </a:r>
            <a:r>
              <a:rPr sz="1600" spc="-2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and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Computational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55" dirty="0">
                <a:latin typeface="Verdana"/>
                <a:cs typeface="Verdana"/>
              </a:rPr>
              <a:t>Technologies,</a:t>
            </a:r>
            <a:r>
              <a:rPr sz="1600" spc="-85" dirty="0">
                <a:latin typeface="Verdana"/>
                <a:cs typeface="Verdana"/>
              </a:rPr>
              <a:t> </a:t>
            </a:r>
            <a:r>
              <a:rPr sz="1600" spc="-20" dirty="0">
                <a:latin typeface="Verdana"/>
                <a:cs typeface="Verdana"/>
              </a:rPr>
              <a:t>2016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4762" y="-4762"/>
            <a:ext cx="281305" cy="2437130"/>
            <a:chOff x="-4762" y="-4762"/>
            <a:chExt cx="281305" cy="24371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34" y="12700"/>
              <a:ext cx="269925" cy="241960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42392" cy="237629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0"/>
              <a:ext cx="242570" cy="2376805"/>
            </a:xfrm>
            <a:custGeom>
              <a:avLst/>
              <a:gdLst/>
              <a:ahLst/>
              <a:cxnLst/>
              <a:rect l="l" t="t" r="r" b="b"/>
              <a:pathLst>
                <a:path w="242570" h="2376805">
                  <a:moveTo>
                    <a:pt x="0" y="2376297"/>
                  </a:moveTo>
                  <a:lnTo>
                    <a:pt x="242392" y="2376297"/>
                  </a:lnTo>
                  <a:lnTo>
                    <a:pt x="242392" y="0"/>
                  </a:lnTo>
                  <a:lnTo>
                    <a:pt x="0" y="0"/>
                  </a:lnTo>
                  <a:lnTo>
                    <a:pt x="0" y="2376297"/>
                  </a:lnTo>
                  <a:close/>
                </a:path>
              </a:pathLst>
            </a:custGeom>
            <a:ln w="9525">
              <a:solidFill>
                <a:srgbClr val="46AA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1149456" y="4473187"/>
            <a:ext cx="285750" cy="2390140"/>
            <a:chOff x="11149456" y="4473187"/>
            <a:chExt cx="285750" cy="239014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49456" y="4473187"/>
              <a:ext cx="280504" cy="238480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87429" y="4481699"/>
              <a:ext cx="242392" cy="237629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1187429" y="4481703"/>
              <a:ext cx="242570" cy="2376805"/>
            </a:xfrm>
            <a:custGeom>
              <a:avLst/>
              <a:gdLst/>
              <a:ahLst/>
              <a:cxnLst/>
              <a:rect l="l" t="t" r="r" b="b"/>
              <a:pathLst>
                <a:path w="242570" h="2376804">
                  <a:moveTo>
                    <a:pt x="0" y="2376297"/>
                  </a:moveTo>
                  <a:lnTo>
                    <a:pt x="242392" y="2376297"/>
                  </a:lnTo>
                  <a:lnTo>
                    <a:pt x="242392" y="0"/>
                  </a:lnTo>
                  <a:lnTo>
                    <a:pt x="0" y="0"/>
                  </a:lnTo>
                  <a:lnTo>
                    <a:pt x="0" y="2376297"/>
                  </a:lnTo>
                  <a:close/>
                </a:path>
              </a:pathLst>
            </a:custGeom>
            <a:ln w="9525">
              <a:solidFill>
                <a:srgbClr val="46AA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0589514" y="6431991"/>
            <a:ext cx="21462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68686"/>
                </a:solidFill>
                <a:latin typeface="Verdana"/>
                <a:cs typeface="Verdana"/>
              </a:rPr>
              <a:t>17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27401" y="6535318"/>
            <a:ext cx="5699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006DC0"/>
                </a:solidFill>
                <a:latin typeface="Verdana"/>
                <a:cs typeface="Verdana"/>
              </a:rPr>
              <a:t>Vel</a:t>
            </a:r>
            <a:r>
              <a:rPr sz="1200" spc="-105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006DC0"/>
                </a:solidFill>
                <a:latin typeface="Verdana"/>
                <a:cs typeface="Verdana"/>
              </a:rPr>
              <a:t>Tech</a:t>
            </a:r>
            <a:r>
              <a:rPr sz="1200" spc="-105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6DC0"/>
                </a:solidFill>
                <a:latin typeface="Verdana"/>
                <a:cs typeface="Verdana"/>
              </a:rPr>
              <a:t>Rangarajan</a:t>
            </a:r>
            <a:r>
              <a:rPr sz="1200" spc="7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70" dirty="0">
                <a:solidFill>
                  <a:srgbClr val="006DC0"/>
                </a:solidFill>
                <a:latin typeface="Verdana"/>
                <a:cs typeface="Verdana"/>
              </a:rPr>
              <a:t>Dr.</a:t>
            </a:r>
            <a:r>
              <a:rPr sz="1200" spc="-25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006DC0"/>
                </a:solidFill>
                <a:latin typeface="Verdana"/>
                <a:cs typeface="Verdana"/>
              </a:rPr>
              <a:t>Sagunthala</a:t>
            </a:r>
            <a:r>
              <a:rPr sz="1200" spc="3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45" dirty="0">
                <a:solidFill>
                  <a:srgbClr val="006DC0"/>
                </a:solidFill>
                <a:latin typeface="Verdana"/>
                <a:cs typeface="Verdana"/>
              </a:rPr>
              <a:t>R&amp;D</a:t>
            </a:r>
            <a:r>
              <a:rPr sz="1200" spc="-15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100" dirty="0">
                <a:solidFill>
                  <a:srgbClr val="006DC0"/>
                </a:solidFill>
                <a:latin typeface="Verdana"/>
                <a:cs typeface="Verdana"/>
              </a:rPr>
              <a:t>Institute</a:t>
            </a:r>
            <a:r>
              <a:rPr sz="1200" spc="-12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6DC0"/>
                </a:solidFill>
                <a:latin typeface="Verdana"/>
                <a:cs typeface="Verdana"/>
              </a:rPr>
              <a:t>of</a:t>
            </a:r>
            <a:r>
              <a:rPr sz="1200" spc="-8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006DC0"/>
                </a:solidFill>
                <a:latin typeface="Verdana"/>
                <a:cs typeface="Verdana"/>
              </a:rPr>
              <a:t>Science</a:t>
            </a:r>
            <a:r>
              <a:rPr sz="1200" spc="-7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6DC0"/>
                </a:solidFill>
                <a:latin typeface="Verdana"/>
                <a:cs typeface="Verdana"/>
              </a:rPr>
              <a:t>and</a:t>
            </a:r>
            <a:r>
              <a:rPr sz="1200" spc="-2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6DC0"/>
                </a:solidFill>
                <a:latin typeface="Verdana"/>
                <a:cs typeface="Verdana"/>
              </a:rPr>
              <a:t>Technology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6643" rIns="0" bIns="0" rtlCol="0">
            <a:spAutoFit/>
          </a:bodyPr>
          <a:lstStyle/>
          <a:p>
            <a:pPr marL="322072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Reference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545" marR="77470" indent="-10160">
              <a:lnSpc>
                <a:spcPct val="100000"/>
              </a:lnSpc>
              <a:spcBef>
                <a:spcPts val="100"/>
              </a:spcBef>
              <a:buSzPct val="94444"/>
              <a:buChar char="•"/>
              <a:tabLst>
                <a:tab pos="121285" algn="l"/>
              </a:tabLst>
            </a:pPr>
            <a:r>
              <a:rPr dirty="0"/>
              <a:t>	L.</a:t>
            </a:r>
            <a:r>
              <a:rPr spc="-20" dirty="0"/>
              <a:t> </a:t>
            </a:r>
            <a:r>
              <a:rPr dirty="0"/>
              <a:t>Da</a:t>
            </a:r>
            <a:r>
              <a:rPr spc="-30" dirty="0"/>
              <a:t> </a:t>
            </a:r>
            <a:r>
              <a:rPr dirty="0"/>
              <a:t>Xu,</a:t>
            </a:r>
            <a:r>
              <a:rPr spc="-5" dirty="0"/>
              <a:t> </a:t>
            </a:r>
            <a:r>
              <a:rPr dirty="0"/>
              <a:t>W.</a:t>
            </a:r>
            <a:r>
              <a:rPr spc="-25" dirty="0"/>
              <a:t> </a:t>
            </a:r>
            <a:r>
              <a:rPr dirty="0"/>
              <a:t>He,</a:t>
            </a:r>
            <a:r>
              <a:rPr spc="-1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S.</a:t>
            </a:r>
            <a:r>
              <a:rPr spc="-20" dirty="0"/>
              <a:t> </a:t>
            </a:r>
            <a:r>
              <a:rPr dirty="0"/>
              <a:t>Li,</a:t>
            </a:r>
            <a:r>
              <a:rPr spc="-10" dirty="0"/>
              <a:t> </a:t>
            </a:r>
            <a:r>
              <a:rPr dirty="0"/>
              <a:t>“Internet</a:t>
            </a:r>
            <a:r>
              <a:rPr spc="-2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Things</a:t>
            </a:r>
            <a:r>
              <a:rPr spc="-20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dirty="0"/>
              <a:t>industries:</a:t>
            </a:r>
            <a:r>
              <a:rPr spc="-10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dirty="0"/>
              <a:t>survey,”</a:t>
            </a:r>
            <a:r>
              <a:rPr spc="30" dirty="0"/>
              <a:t> </a:t>
            </a:r>
            <a:r>
              <a:rPr i="1" dirty="0">
                <a:latin typeface="Arial"/>
                <a:cs typeface="Arial"/>
              </a:rPr>
              <a:t>IEEE</a:t>
            </a:r>
            <a:r>
              <a:rPr i="1" spc="-2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Transactions</a:t>
            </a:r>
            <a:r>
              <a:rPr i="1" spc="-1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on</a:t>
            </a:r>
            <a:r>
              <a:rPr i="1" spc="-10" dirty="0">
                <a:latin typeface="Arial"/>
                <a:cs typeface="Arial"/>
              </a:rPr>
              <a:t> Industrial </a:t>
            </a:r>
            <a:r>
              <a:rPr i="1" dirty="0">
                <a:latin typeface="Arial"/>
                <a:cs typeface="Arial"/>
              </a:rPr>
              <a:t>Informatics</a:t>
            </a:r>
            <a:r>
              <a:rPr dirty="0"/>
              <a:t>,</a:t>
            </a:r>
            <a:r>
              <a:rPr spc="-10" dirty="0"/>
              <a:t> </a:t>
            </a:r>
            <a:r>
              <a:rPr dirty="0"/>
              <a:t>vol.</a:t>
            </a:r>
            <a:r>
              <a:rPr spc="-10" dirty="0"/>
              <a:t> </a:t>
            </a:r>
            <a:r>
              <a:rPr dirty="0"/>
              <a:t>10,</a:t>
            </a:r>
            <a:r>
              <a:rPr spc="-10" dirty="0"/>
              <a:t> </a:t>
            </a:r>
            <a:r>
              <a:rPr dirty="0"/>
              <a:t>no.</a:t>
            </a:r>
            <a:r>
              <a:rPr spc="-10" dirty="0"/>
              <a:t> </a:t>
            </a:r>
            <a:r>
              <a:rPr dirty="0"/>
              <a:t>4,</a:t>
            </a:r>
            <a:r>
              <a:rPr spc="-25" dirty="0"/>
              <a:t> </a:t>
            </a:r>
            <a:r>
              <a:rPr dirty="0"/>
              <a:t>pp.</a:t>
            </a:r>
            <a:r>
              <a:rPr spc="-10" dirty="0"/>
              <a:t> 2233–</a:t>
            </a:r>
            <a:r>
              <a:rPr dirty="0"/>
              <a:t>2243,</a:t>
            </a:r>
            <a:r>
              <a:rPr spc="25" dirty="0"/>
              <a:t> </a:t>
            </a:r>
            <a:r>
              <a:rPr dirty="0"/>
              <a:t>Nov.</a:t>
            </a:r>
            <a:r>
              <a:rPr spc="-5" dirty="0"/>
              <a:t> </a:t>
            </a:r>
            <a:r>
              <a:rPr spc="-10" dirty="0"/>
              <a:t>2014.</a:t>
            </a:r>
          </a:p>
          <a:p>
            <a:pPr marL="29845"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pc="-10" dirty="0"/>
          </a:p>
          <a:p>
            <a:pPr marL="42545" marR="184150" indent="-10160">
              <a:lnSpc>
                <a:spcPct val="100000"/>
              </a:lnSpc>
              <a:buSzPct val="94444"/>
              <a:buChar char="•"/>
              <a:tabLst>
                <a:tab pos="121285" algn="l"/>
              </a:tabLst>
            </a:pPr>
            <a:r>
              <a:rPr dirty="0"/>
              <a:t>	A.</a:t>
            </a:r>
            <a:r>
              <a:rPr spc="-30" dirty="0"/>
              <a:t> </a:t>
            </a:r>
            <a:r>
              <a:rPr dirty="0"/>
              <a:t>Gubbi,</a:t>
            </a:r>
            <a:r>
              <a:rPr spc="-10" dirty="0"/>
              <a:t> </a:t>
            </a:r>
            <a:r>
              <a:rPr dirty="0"/>
              <a:t>R.</a:t>
            </a:r>
            <a:r>
              <a:rPr spc="-30" dirty="0"/>
              <a:t> </a:t>
            </a:r>
            <a:r>
              <a:rPr dirty="0"/>
              <a:t>Buyya,</a:t>
            </a:r>
            <a:r>
              <a:rPr spc="20" dirty="0"/>
              <a:t> </a:t>
            </a:r>
            <a:r>
              <a:rPr dirty="0"/>
              <a:t>S.</a:t>
            </a:r>
            <a:r>
              <a:rPr spc="-20" dirty="0"/>
              <a:t> </a:t>
            </a:r>
            <a:r>
              <a:rPr dirty="0"/>
              <a:t>Marusic,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M.</a:t>
            </a:r>
            <a:r>
              <a:rPr spc="-20" dirty="0"/>
              <a:t> </a:t>
            </a:r>
            <a:r>
              <a:rPr dirty="0"/>
              <a:t>Palaniswami,</a:t>
            </a:r>
            <a:r>
              <a:rPr spc="20" dirty="0"/>
              <a:t> </a:t>
            </a:r>
            <a:r>
              <a:rPr dirty="0"/>
              <a:t>“Internet</a:t>
            </a:r>
            <a:r>
              <a:rPr spc="-2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Things</a:t>
            </a:r>
            <a:r>
              <a:rPr spc="-30" dirty="0"/>
              <a:t> </a:t>
            </a:r>
            <a:r>
              <a:rPr dirty="0"/>
              <a:t>(IoT):</a:t>
            </a:r>
            <a:r>
              <a:rPr spc="-45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vision,</a:t>
            </a:r>
            <a:r>
              <a:rPr spc="-15" dirty="0"/>
              <a:t> </a:t>
            </a:r>
            <a:r>
              <a:rPr spc="-10" dirty="0"/>
              <a:t>architectural </a:t>
            </a:r>
            <a:r>
              <a:rPr dirty="0"/>
              <a:t>elements,</a:t>
            </a:r>
            <a:r>
              <a:rPr spc="-3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future</a:t>
            </a:r>
            <a:r>
              <a:rPr spc="-40" dirty="0"/>
              <a:t> </a:t>
            </a:r>
            <a:r>
              <a:rPr dirty="0"/>
              <a:t>directions,”</a:t>
            </a:r>
            <a:r>
              <a:rPr spc="-15" dirty="0"/>
              <a:t> </a:t>
            </a:r>
            <a:r>
              <a:rPr i="1" dirty="0">
                <a:latin typeface="Arial"/>
                <a:cs typeface="Arial"/>
              </a:rPr>
              <a:t>Future</a:t>
            </a:r>
            <a:r>
              <a:rPr i="1" spc="-4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Generation</a:t>
            </a:r>
            <a:r>
              <a:rPr i="1" spc="-1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Computer</a:t>
            </a:r>
            <a:r>
              <a:rPr i="1" spc="-1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Systems</a:t>
            </a:r>
            <a:r>
              <a:rPr dirty="0"/>
              <a:t>,</a:t>
            </a:r>
            <a:r>
              <a:rPr spc="-35" dirty="0"/>
              <a:t> </a:t>
            </a:r>
            <a:r>
              <a:rPr dirty="0"/>
              <a:t>vol.</a:t>
            </a:r>
            <a:r>
              <a:rPr spc="-30" dirty="0"/>
              <a:t> </a:t>
            </a:r>
            <a:r>
              <a:rPr dirty="0"/>
              <a:t>29,</a:t>
            </a:r>
            <a:r>
              <a:rPr spc="-35" dirty="0"/>
              <a:t> </a:t>
            </a:r>
            <a:r>
              <a:rPr dirty="0"/>
              <a:t>no.</a:t>
            </a:r>
            <a:r>
              <a:rPr spc="-30" dirty="0"/>
              <a:t> </a:t>
            </a:r>
            <a:r>
              <a:rPr dirty="0"/>
              <a:t>7,</a:t>
            </a:r>
            <a:r>
              <a:rPr spc="-35" dirty="0"/>
              <a:t> </a:t>
            </a:r>
            <a:r>
              <a:rPr dirty="0"/>
              <a:t>pp.</a:t>
            </a:r>
            <a:r>
              <a:rPr spc="-30" dirty="0"/>
              <a:t> </a:t>
            </a:r>
            <a:r>
              <a:rPr spc="-10" dirty="0"/>
              <a:t>1645–1660, </a:t>
            </a:r>
            <a:r>
              <a:rPr dirty="0"/>
              <a:t>Sep.</a:t>
            </a:r>
            <a:r>
              <a:rPr spc="-15" dirty="0"/>
              <a:t> </a:t>
            </a:r>
            <a:r>
              <a:rPr spc="-20" dirty="0"/>
              <a:t>2013.</a:t>
            </a:r>
          </a:p>
          <a:p>
            <a:pPr marL="29845"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pc="-20" dirty="0"/>
          </a:p>
          <a:p>
            <a:pPr marL="42545" marR="50800" indent="-10160">
              <a:lnSpc>
                <a:spcPct val="100000"/>
              </a:lnSpc>
              <a:buSzPct val="94444"/>
              <a:buChar char="•"/>
              <a:tabLst>
                <a:tab pos="121285" algn="l"/>
              </a:tabLst>
            </a:pPr>
            <a:r>
              <a:rPr dirty="0"/>
              <a:t>	D.</a:t>
            </a:r>
            <a:r>
              <a:rPr spc="-25" dirty="0"/>
              <a:t> </a:t>
            </a:r>
            <a:r>
              <a:rPr dirty="0"/>
              <a:t>Evans,</a:t>
            </a:r>
            <a:r>
              <a:rPr spc="-20" dirty="0"/>
              <a:t> </a:t>
            </a:r>
            <a:r>
              <a:rPr dirty="0"/>
              <a:t>“The</a:t>
            </a:r>
            <a:r>
              <a:rPr spc="-45" dirty="0"/>
              <a:t> </a:t>
            </a:r>
            <a:r>
              <a:rPr dirty="0"/>
              <a:t>Internet</a:t>
            </a:r>
            <a:r>
              <a:rPr spc="-2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Things:</a:t>
            </a:r>
            <a:r>
              <a:rPr spc="-20" dirty="0"/>
              <a:t> </a:t>
            </a:r>
            <a:r>
              <a:rPr dirty="0"/>
              <a:t>How</a:t>
            </a:r>
            <a:r>
              <a:rPr spc="-3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next</a:t>
            </a:r>
            <a:r>
              <a:rPr spc="-10" dirty="0"/>
              <a:t> </a:t>
            </a:r>
            <a:r>
              <a:rPr dirty="0"/>
              <a:t>evolution</a:t>
            </a:r>
            <a:r>
              <a:rPr spc="-1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Internet</a:t>
            </a:r>
            <a:r>
              <a:rPr spc="-2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changing</a:t>
            </a:r>
            <a:r>
              <a:rPr spc="-5" dirty="0"/>
              <a:t> </a:t>
            </a:r>
            <a:r>
              <a:rPr dirty="0"/>
              <a:t>everything,”</a:t>
            </a:r>
            <a:r>
              <a:rPr spc="40" dirty="0"/>
              <a:t> </a:t>
            </a:r>
            <a:r>
              <a:rPr i="1" spc="-10" dirty="0">
                <a:latin typeface="Arial"/>
                <a:cs typeface="Arial"/>
              </a:rPr>
              <a:t>Cisco </a:t>
            </a:r>
            <a:r>
              <a:rPr i="1" dirty="0">
                <a:latin typeface="Arial"/>
                <a:cs typeface="Arial"/>
              </a:rPr>
              <a:t>White</a:t>
            </a:r>
            <a:r>
              <a:rPr i="1" spc="-3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Paper</a:t>
            </a:r>
            <a:r>
              <a:rPr dirty="0"/>
              <a:t>,</a:t>
            </a:r>
            <a:r>
              <a:rPr spc="-25" dirty="0"/>
              <a:t> </a:t>
            </a:r>
            <a:r>
              <a:rPr spc="-10" dirty="0"/>
              <a:t>2011.</a:t>
            </a:r>
          </a:p>
          <a:p>
            <a:pPr marL="29845">
              <a:lnSpc>
                <a:spcPct val="100000"/>
              </a:lnSpc>
              <a:spcBef>
                <a:spcPts val="95"/>
              </a:spcBef>
              <a:buFont typeface="Arial MT"/>
              <a:buChar char="•"/>
            </a:pPr>
            <a:endParaRPr spc="-10" dirty="0"/>
          </a:p>
          <a:p>
            <a:pPr marL="42545" marR="5080" indent="-10160">
              <a:lnSpc>
                <a:spcPct val="100000"/>
              </a:lnSpc>
              <a:buSzPct val="94444"/>
              <a:buChar char="•"/>
              <a:tabLst>
                <a:tab pos="121285" algn="l"/>
              </a:tabLst>
            </a:pPr>
            <a:r>
              <a:rPr dirty="0"/>
              <a:t>	N.</a:t>
            </a:r>
            <a:r>
              <a:rPr spc="-20" dirty="0"/>
              <a:t> </a:t>
            </a:r>
            <a:r>
              <a:rPr dirty="0"/>
              <a:t>Kumar,</a:t>
            </a:r>
            <a:r>
              <a:rPr spc="-15" dirty="0"/>
              <a:t> </a:t>
            </a:r>
            <a:r>
              <a:rPr dirty="0"/>
              <a:t>N.</a:t>
            </a:r>
            <a:r>
              <a:rPr spc="-25" dirty="0"/>
              <a:t> </a:t>
            </a:r>
            <a:r>
              <a:rPr dirty="0"/>
              <a:t>Chilamkurti,</a:t>
            </a:r>
            <a:r>
              <a:rPr spc="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J.</a:t>
            </a:r>
            <a:r>
              <a:rPr spc="-15" dirty="0"/>
              <a:t> </a:t>
            </a:r>
            <a:r>
              <a:rPr dirty="0"/>
              <a:t>H.</a:t>
            </a:r>
            <a:r>
              <a:rPr spc="-30" dirty="0"/>
              <a:t> </a:t>
            </a:r>
            <a:r>
              <a:rPr dirty="0"/>
              <a:t>Park,</a:t>
            </a:r>
            <a:r>
              <a:rPr spc="-15" dirty="0"/>
              <a:t> </a:t>
            </a:r>
            <a:r>
              <a:rPr dirty="0"/>
              <a:t>“ALCA:</a:t>
            </a:r>
            <a:r>
              <a:rPr spc="-15" dirty="0"/>
              <a:t> </a:t>
            </a:r>
            <a:r>
              <a:rPr dirty="0"/>
              <a:t>Agent</a:t>
            </a:r>
            <a:r>
              <a:rPr spc="-15" dirty="0"/>
              <a:t> </a:t>
            </a:r>
            <a:r>
              <a:rPr spc="-10" dirty="0"/>
              <a:t>learning-</a:t>
            </a:r>
            <a:r>
              <a:rPr dirty="0"/>
              <a:t>based</a:t>
            </a:r>
            <a:r>
              <a:rPr spc="25" dirty="0"/>
              <a:t> </a:t>
            </a:r>
            <a:r>
              <a:rPr dirty="0"/>
              <a:t>clustering</a:t>
            </a:r>
            <a:r>
              <a:rPr spc="-10" dirty="0"/>
              <a:t> </a:t>
            </a:r>
            <a:r>
              <a:rPr dirty="0"/>
              <a:t>algorithm</a:t>
            </a:r>
            <a:r>
              <a:rPr spc="-10" dirty="0"/>
              <a:t> </a:t>
            </a:r>
            <a:r>
              <a:rPr dirty="0"/>
              <a:t>in</a:t>
            </a:r>
            <a:r>
              <a:rPr spc="-5" dirty="0"/>
              <a:t> </a:t>
            </a:r>
            <a:r>
              <a:rPr spc="-10" dirty="0"/>
              <a:t>wireless </a:t>
            </a:r>
            <a:r>
              <a:rPr dirty="0"/>
              <a:t>sensor</a:t>
            </a:r>
            <a:r>
              <a:rPr spc="-20" dirty="0"/>
              <a:t> </a:t>
            </a:r>
            <a:r>
              <a:rPr dirty="0"/>
              <a:t>networks,”</a:t>
            </a:r>
            <a:r>
              <a:rPr spc="20" dirty="0"/>
              <a:t> </a:t>
            </a:r>
            <a:r>
              <a:rPr i="1" dirty="0">
                <a:latin typeface="Arial"/>
                <a:cs typeface="Arial"/>
              </a:rPr>
              <a:t>Journal</a:t>
            </a:r>
            <a:r>
              <a:rPr i="1" spc="-1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of</a:t>
            </a:r>
            <a:r>
              <a:rPr i="1" spc="-2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Computer</a:t>
            </a:r>
            <a:r>
              <a:rPr i="1" spc="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and</a:t>
            </a:r>
            <a:r>
              <a:rPr i="1" spc="-2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System</a:t>
            </a:r>
            <a:r>
              <a:rPr i="1" spc="-3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Sciences</a:t>
            </a:r>
            <a:r>
              <a:rPr dirty="0"/>
              <a:t>,</a:t>
            </a:r>
            <a:r>
              <a:rPr spc="-5" dirty="0"/>
              <a:t> </a:t>
            </a:r>
            <a:r>
              <a:rPr dirty="0"/>
              <a:t>vol.</a:t>
            </a:r>
            <a:r>
              <a:rPr spc="-15" dirty="0"/>
              <a:t> </a:t>
            </a:r>
            <a:r>
              <a:rPr dirty="0"/>
              <a:t>79,</a:t>
            </a:r>
            <a:r>
              <a:rPr spc="-20" dirty="0"/>
              <a:t> </a:t>
            </a:r>
            <a:r>
              <a:rPr dirty="0"/>
              <a:t>no.</a:t>
            </a:r>
            <a:r>
              <a:rPr spc="-15" dirty="0"/>
              <a:t> </a:t>
            </a:r>
            <a:r>
              <a:rPr dirty="0"/>
              <a:t>7,</a:t>
            </a:r>
            <a:r>
              <a:rPr spc="-20" dirty="0"/>
              <a:t> </a:t>
            </a:r>
            <a:r>
              <a:rPr dirty="0"/>
              <a:t>pp.</a:t>
            </a:r>
            <a:r>
              <a:rPr spc="-20" dirty="0"/>
              <a:t> </a:t>
            </a:r>
            <a:r>
              <a:rPr spc="-10" dirty="0"/>
              <a:t>1040–</a:t>
            </a:r>
            <a:r>
              <a:rPr dirty="0"/>
              <a:t>1055,</a:t>
            </a:r>
            <a:r>
              <a:rPr spc="5" dirty="0"/>
              <a:t> </a:t>
            </a:r>
            <a:r>
              <a:rPr dirty="0"/>
              <a:t>Nov.</a:t>
            </a:r>
            <a:r>
              <a:rPr spc="-15" dirty="0"/>
              <a:t> </a:t>
            </a:r>
            <a:r>
              <a:rPr spc="-10" dirty="0"/>
              <a:t>2013.</a:t>
            </a:r>
          </a:p>
          <a:p>
            <a:pPr marL="29845"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pc="-10" dirty="0"/>
          </a:p>
          <a:p>
            <a:pPr marL="42545" marR="113664" indent="-10160">
              <a:lnSpc>
                <a:spcPct val="100000"/>
              </a:lnSpc>
              <a:buSzPct val="94444"/>
              <a:buChar char="•"/>
              <a:tabLst>
                <a:tab pos="121285" algn="l"/>
              </a:tabLst>
            </a:pPr>
            <a:r>
              <a:rPr dirty="0"/>
              <a:t>	S.</a:t>
            </a:r>
            <a:r>
              <a:rPr spc="-55" dirty="0"/>
              <a:t> </a:t>
            </a:r>
            <a:r>
              <a:rPr dirty="0"/>
              <a:t>Madakam,</a:t>
            </a:r>
            <a:r>
              <a:rPr spc="-15" dirty="0"/>
              <a:t> </a:t>
            </a:r>
            <a:r>
              <a:rPr dirty="0"/>
              <a:t>R.</a:t>
            </a:r>
            <a:r>
              <a:rPr spc="-30" dirty="0"/>
              <a:t> </a:t>
            </a:r>
            <a:r>
              <a:rPr dirty="0"/>
              <a:t>Ramaswamy,</a:t>
            </a:r>
            <a:r>
              <a:rPr spc="3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S.</a:t>
            </a:r>
            <a:r>
              <a:rPr spc="-30" dirty="0"/>
              <a:t> </a:t>
            </a:r>
            <a:r>
              <a:rPr dirty="0"/>
              <a:t>Tripathi,</a:t>
            </a:r>
            <a:r>
              <a:rPr spc="-40" dirty="0"/>
              <a:t> </a:t>
            </a:r>
            <a:r>
              <a:rPr dirty="0"/>
              <a:t>“Internet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Things</a:t>
            </a:r>
            <a:r>
              <a:rPr spc="-40" dirty="0"/>
              <a:t> </a:t>
            </a:r>
            <a:r>
              <a:rPr dirty="0"/>
              <a:t>(IoT):</a:t>
            </a:r>
            <a:r>
              <a:rPr spc="-50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dirty="0"/>
              <a:t>literature</a:t>
            </a:r>
            <a:r>
              <a:rPr spc="-25" dirty="0"/>
              <a:t> </a:t>
            </a:r>
            <a:r>
              <a:rPr dirty="0"/>
              <a:t>review,”</a:t>
            </a:r>
            <a:r>
              <a:rPr spc="45" dirty="0"/>
              <a:t> </a:t>
            </a:r>
            <a:r>
              <a:rPr i="1" dirty="0">
                <a:latin typeface="Arial"/>
                <a:cs typeface="Arial"/>
              </a:rPr>
              <a:t>Journal</a:t>
            </a:r>
            <a:r>
              <a:rPr i="1" spc="-20" dirty="0">
                <a:latin typeface="Arial"/>
                <a:cs typeface="Arial"/>
              </a:rPr>
              <a:t> </a:t>
            </a:r>
            <a:r>
              <a:rPr i="1" spc="-25" dirty="0">
                <a:latin typeface="Arial"/>
                <a:cs typeface="Arial"/>
              </a:rPr>
              <a:t>of </a:t>
            </a:r>
            <a:r>
              <a:rPr i="1" dirty="0">
                <a:latin typeface="Arial"/>
                <a:cs typeface="Arial"/>
              </a:rPr>
              <a:t>Computer</a:t>
            </a:r>
            <a:r>
              <a:rPr i="1" spc="-1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and</a:t>
            </a:r>
            <a:r>
              <a:rPr i="1" spc="-2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Communications</a:t>
            </a:r>
            <a:r>
              <a:rPr dirty="0"/>
              <a:t>,</a:t>
            </a:r>
            <a:r>
              <a:rPr spc="20" dirty="0"/>
              <a:t> </a:t>
            </a:r>
            <a:r>
              <a:rPr dirty="0"/>
              <a:t>vol.</a:t>
            </a:r>
            <a:r>
              <a:rPr spc="-25" dirty="0"/>
              <a:t> </a:t>
            </a:r>
            <a:r>
              <a:rPr dirty="0"/>
              <a:t>3,</a:t>
            </a:r>
            <a:r>
              <a:rPr spc="-35" dirty="0"/>
              <a:t> </a:t>
            </a:r>
            <a:r>
              <a:rPr dirty="0"/>
              <a:t>no.</a:t>
            </a:r>
            <a:r>
              <a:rPr spc="-25" dirty="0"/>
              <a:t> </a:t>
            </a:r>
            <a:r>
              <a:rPr dirty="0"/>
              <a:t>5,</a:t>
            </a:r>
            <a:r>
              <a:rPr spc="-25" dirty="0"/>
              <a:t> </a:t>
            </a:r>
            <a:r>
              <a:rPr dirty="0"/>
              <a:t>pp.</a:t>
            </a:r>
            <a:r>
              <a:rPr spc="-25" dirty="0"/>
              <a:t> </a:t>
            </a:r>
            <a:r>
              <a:rPr spc="-10" dirty="0"/>
              <a:t>164–</a:t>
            </a:r>
            <a:r>
              <a:rPr dirty="0"/>
              <a:t>173, </a:t>
            </a:r>
            <a:r>
              <a:rPr spc="-10" dirty="0"/>
              <a:t>2015.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386715" cy="476884"/>
          </a:xfrm>
          <a:custGeom>
            <a:avLst/>
            <a:gdLst/>
            <a:ahLst/>
            <a:cxnLst/>
            <a:rect l="l" t="t" r="r" b="b"/>
            <a:pathLst>
              <a:path w="386715" h="476884">
                <a:moveTo>
                  <a:pt x="386410" y="0"/>
                </a:moveTo>
                <a:lnTo>
                  <a:pt x="0" y="0"/>
                </a:lnTo>
                <a:lnTo>
                  <a:pt x="0" y="476669"/>
                </a:lnTo>
                <a:lnTo>
                  <a:pt x="386410" y="476669"/>
                </a:lnTo>
                <a:lnTo>
                  <a:pt x="386410" y="0"/>
                </a:lnTo>
                <a:close/>
              </a:path>
            </a:pathLst>
          </a:custGeom>
          <a:solidFill>
            <a:srgbClr val="E16C0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121" y="1243964"/>
            <a:ext cx="5029454" cy="210096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-4762" y="1979929"/>
            <a:ext cx="275590" cy="2441575"/>
            <a:chOff x="-4762" y="1979929"/>
            <a:chExt cx="275590" cy="244157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42" y="1979929"/>
              <a:ext cx="264096" cy="244119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988819"/>
              <a:ext cx="235800" cy="237629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1988819"/>
              <a:ext cx="236220" cy="2376805"/>
            </a:xfrm>
            <a:custGeom>
              <a:avLst/>
              <a:gdLst/>
              <a:ahLst/>
              <a:cxnLst/>
              <a:rect l="l" t="t" r="r" b="b"/>
              <a:pathLst>
                <a:path w="236220" h="2376804">
                  <a:moveTo>
                    <a:pt x="0" y="2376297"/>
                  </a:moveTo>
                  <a:lnTo>
                    <a:pt x="235800" y="2376297"/>
                  </a:lnTo>
                  <a:lnTo>
                    <a:pt x="235800" y="0"/>
                  </a:lnTo>
                  <a:lnTo>
                    <a:pt x="0" y="0"/>
                  </a:lnTo>
                </a:path>
              </a:pathLst>
            </a:custGeom>
            <a:ln w="9525">
              <a:solidFill>
                <a:srgbClr val="46AA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1149456" y="1979929"/>
            <a:ext cx="285750" cy="2441575"/>
            <a:chOff x="11149456" y="1979929"/>
            <a:chExt cx="285750" cy="244157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49456" y="1979929"/>
              <a:ext cx="280504" cy="244119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187556" y="1988819"/>
              <a:ext cx="242392" cy="237629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1187556" y="1988819"/>
              <a:ext cx="242570" cy="2376805"/>
            </a:xfrm>
            <a:custGeom>
              <a:avLst/>
              <a:gdLst/>
              <a:ahLst/>
              <a:cxnLst/>
              <a:rect l="l" t="t" r="r" b="b"/>
              <a:pathLst>
                <a:path w="242570" h="2376804">
                  <a:moveTo>
                    <a:pt x="0" y="2376297"/>
                  </a:moveTo>
                  <a:lnTo>
                    <a:pt x="242392" y="2376297"/>
                  </a:lnTo>
                  <a:lnTo>
                    <a:pt x="242392" y="0"/>
                  </a:lnTo>
                  <a:lnTo>
                    <a:pt x="0" y="0"/>
                  </a:lnTo>
                  <a:lnTo>
                    <a:pt x="0" y="2376297"/>
                  </a:lnTo>
                  <a:close/>
                </a:path>
              </a:pathLst>
            </a:custGeom>
            <a:ln w="9525">
              <a:solidFill>
                <a:srgbClr val="46AA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848736" y="6535318"/>
            <a:ext cx="5694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006DC0"/>
                </a:solidFill>
                <a:latin typeface="Verdana"/>
                <a:cs typeface="Verdana"/>
              </a:rPr>
              <a:t>Vel</a:t>
            </a:r>
            <a:r>
              <a:rPr sz="1200" spc="-105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006DC0"/>
                </a:solidFill>
                <a:latin typeface="Verdana"/>
                <a:cs typeface="Verdana"/>
              </a:rPr>
              <a:t>Tech</a:t>
            </a:r>
            <a:r>
              <a:rPr sz="1200" spc="-105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6DC0"/>
                </a:solidFill>
                <a:latin typeface="Verdana"/>
                <a:cs typeface="Verdana"/>
              </a:rPr>
              <a:t>Rangarajan</a:t>
            </a:r>
            <a:r>
              <a:rPr sz="1200" spc="7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70" dirty="0">
                <a:solidFill>
                  <a:srgbClr val="006DC0"/>
                </a:solidFill>
                <a:latin typeface="Verdana"/>
                <a:cs typeface="Verdana"/>
              </a:rPr>
              <a:t>Dr.</a:t>
            </a:r>
            <a:r>
              <a:rPr sz="1200" spc="-235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006DC0"/>
                </a:solidFill>
                <a:latin typeface="Verdana"/>
                <a:cs typeface="Verdana"/>
              </a:rPr>
              <a:t>Sagunthala</a:t>
            </a:r>
            <a:r>
              <a:rPr sz="1200" spc="3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45" dirty="0">
                <a:solidFill>
                  <a:srgbClr val="006DC0"/>
                </a:solidFill>
                <a:latin typeface="Verdana"/>
                <a:cs typeface="Verdana"/>
              </a:rPr>
              <a:t>R&amp;D</a:t>
            </a:r>
            <a:r>
              <a:rPr sz="1200" spc="-16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100" dirty="0">
                <a:solidFill>
                  <a:srgbClr val="006DC0"/>
                </a:solidFill>
                <a:latin typeface="Verdana"/>
                <a:cs typeface="Verdana"/>
              </a:rPr>
              <a:t>Institute</a:t>
            </a:r>
            <a:r>
              <a:rPr sz="1200" spc="-13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6DC0"/>
                </a:solidFill>
                <a:latin typeface="Verdana"/>
                <a:cs typeface="Verdana"/>
              </a:rPr>
              <a:t>of</a:t>
            </a:r>
            <a:r>
              <a:rPr sz="1200" spc="-65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006DC0"/>
                </a:solidFill>
                <a:latin typeface="Verdana"/>
                <a:cs typeface="Verdana"/>
              </a:rPr>
              <a:t>Science</a:t>
            </a:r>
            <a:r>
              <a:rPr sz="1200" spc="-60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6DC0"/>
                </a:solidFill>
                <a:latin typeface="Verdana"/>
                <a:cs typeface="Verdana"/>
              </a:rPr>
              <a:t>and</a:t>
            </a:r>
            <a:r>
              <a:rPr sz="1200" spc="-45" dirty="0">
                <a:solidFill>
                  <a:srgbClr val="006DC0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6DC0"/>
                </a:solidFill>
                <a:latin typeface="Verdana"/>
                <a:cs typeface="Verdana"/>
              </a:rPr>
              <a:t>Technology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812526" y="6569150"/>
            <a:ext cx="205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5" dirty="0">
                <a:solidFill>
                  <a:srgbClr val="868686"/>
                </a:solidFill>
                <a:latin typeface="Verdana"/>
                <a:cs typeface="Verdana"/>
              </a:rPr>
              <a:t>12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1620</Words>
  <Application>Microsoft Office PowerPoint</Application>
  <PresentationFormat>Custom</PresentationFormat>
  <Paragraphs>180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Arial MT</vt:lpstr>
      <vt:lpstr>Calibri</vt:lpstr>
      <vt:lpstr>Tahoma</vt:lpstr>
      <vt:lpstr>Times New Roman</vt:lpstr>
      <vt:lpstr>Verdana</vt:lpstr>
      <vt:lpstr>Wingdings</vt:lpstr>
      <vt:lpstr>Office Theme</vt:lpstr>
      <vt:lpstr>Final   Review</vt:lpstr>
      <vt:lpstr>Content</vt:lpstr>
      <vt:lpstr>Abstract</vt:lpstr>
      <vt:lpstr>Motivation and Introduction</vt:lpstr>
      <vt:lpstr>Objective</vt:lpstr>
      <vt:lpstr>PowerPoint Presentation</vt:lpstr>
      <vt:lpstr>METHODOLOGY</vt:lpstr>
      <vt:lpstr>Implementation Details and Description</vt:lpstr>
      <vt:lpstr>Block Diagram</vt:lpstr>
      <vt:lpstr>Circuit Diagram</vt:lpstr>
      <vt:lpstr>Software/Hardware to be used</vt:lpstr>
      <vt:lpstr>Prototype</vt:lpstr>
      <vt:lpstr>Results and Discussions</vt:lpstr>
      <vt:lpstr>Output &amp; Results</vt:lpstr>
      <vt:lpstr>Output &amp; Result</vt:lpstr>
      <vt:lpstr>Conclusion</vt:lpstr>
      <vt:lpstr>References</vt:lpstr>
      <vt:lpstr>Reference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vc7775b7iqac</dc:creator>
  <cp:lastModifiedBy>Anubhav kumar</cp:lastModifiedBy>
  <cp:revision>1</cp:revision>
  <dcterms:created xsi:type="dcterms:W3CDTF">2026-05-06T15:45:59Z</dcterms:created>
  <dcterms:modified xsi:type="dcterms:W3CDTF">2026-05-06T15:57:32Z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2026-05-06T00:00:00Z</vt:filetime>
  </property>
  <property fmtid="{D5CDD505-2E9C-101B-9397-08002B2CF9AE}" pid="4" name="Creator">
    <vt:lpwstr>Microsoft® PowerPoint® 2021</vt:lpwstr>
  </property>
  <property fmtid="{D5CDD505-2E9C-101B-9397-08002B2CF9AE}" pid="5" name="LastSaved">
    <vt:filetime>2026-05-06T00:00:00Z</vt:filetime>
  </property>
  <property fmtid="{D5CDD505-2E9C-101B-9397-08002B2CF9AE}" pid="6" name="Producer">
    <vt:lpwstr>Microsoft® PowerPoint® 2021</vt:lpwstr>
  </property>
</Properties>
</file>